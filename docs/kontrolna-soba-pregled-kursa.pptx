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 odgovora ne otkrivati koja je opcija tačna. Sledeći slajd časa je za posle diskusije.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 prelaziti na slajd sa razlozima dok studenti ne obrazlože više od jedne opcije.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 otkrivati tačnu opciju. Tražiti obrazloženje i za opcije koje grupa odbaci.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Tačno je C. Promenjen je samo prikaz. Ekran nije sam po sebi stanje staklenika.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 otkrivati tačnu opciju. Tražiti obrazloženje i za opcije koje grupa odbaci.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Tačno je B. room.temperature sme da se promeni. panel gleda isti objekat, pa vidi istu vrednost.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 otkrivati tačnu opciju. Tražiti obrazloženje i za opcije koje grupa odbaci.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Tačno je B. Klik zove sačuvanu funkciju. update prosleđuje funkciju; update() je zove odmah i predaje rezultat.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 otkrivati tačnu opciju. Tražiti obrazloženje i za opcije koje grupa odbaci.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Tačno je B. Server odgovara. Browser prima odgovor i tek onda menja sopstveni prikaz.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 otkrivati tačnu opciju. Tražiti obrazloženje i za opcije koje grupa odbaci.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Tačno je B. 500 nije uspešna operacija, ali jeste HTTP odgovor. Status i ok odvajaju taj slučaj od uspeha.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 otkrivati tačnu opciju. Tražiti obrazloženje i za opcije koje grupa odbaci.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Tačno je B. Oba puta želimo uključeno. To ne garantuje jedan zapis u logu ni jednu isporuku.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 otkrivati tačnu opciju. Tražiti obrazloženje i za opcije koje grupa odbaci.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Tačno je B. Dva upita nisu sami po sebi atomski. Rollback ili oba uspeju. Restart Node-a to ne spaja.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 otkrivati tačnu opciju. Tražiti obrazloženje i za opcije koje grupa odbaci.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Tačno je B. Treba vreme merenja i jasan prikaz da je podatak zastareo ili nedostupan.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 otkrivati tačnu opciju. Tražiti obrazloženje i za opcije koje grupa odbaci.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Tačno je B. Ovlašćenje je odluka servera. Ekran može da sakrije komandu, ne može da je zabrani.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 otkrivati tačnu opciju. Tražiti obrazloženje i za opcije koje grupa odbaci.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Tačno je C. Odvajamo željeno, serversko i prikazano. Ponavljanje zavisi od toga da li komanda postavlja stanje ili ga prebacuje.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0515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40" kern="0" dirty="0">
                <a:solidFill>
                  <a:srgbClr val="C9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PREDAVANJA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508760"/>
            <a:ext cx="9144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Kontrolna soba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697480"/>
            <a:ext cx="9601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5E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Svaki čas počinje problemom. Studenti biraju odgovor,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D5E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 se svaki odgovor razloži.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617720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285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5E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časova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2971800" y="4617720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2971800" y="5285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5E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minuta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03520" y="4617720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5303520" y="5285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5E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9144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721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Šta student treba da ume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Predznanje: OOP, algoritmi i SQL. JavaScript specifičnosti uvode se izričito.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5532120" cy="2011680"/>
          </a:xfrm>
          <a:prstGeom prst="roundRect">
            <a:avLst>
              <a:gd name="adj" fmla="val 4545"/>
            </a:avLst>
          </a:prstGeom>
          <a:solidFill>
            <a:srgbClr val="F4F7F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58952" y="175564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217627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721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 akcije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670048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 klika u browseru, preko Node zahteva, do upita u bazi.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309360" y="1554480"/>
            <a:ext cx="5532120" cy="2011680"/>
          </a:xfrm>
          <a:prstGeom prst="roundRect">
            <a:avLst>
              <a:gd name="adj" fmla="val 4545"/>
            </a:avLst>
          </a:prstGeom>
          <a:solidFill>
            <a:srgbClr val="F4F7F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65392" y="175564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65392" y="217627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721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Prikaz i stanje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565392" y="2670048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Ekran nije merodavno stanje staklenika.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02920" y="3794760"/>
            <a:ext cx="5532120" cy="2011680"/>
          </a:xfrm>
          <a:prstGeom prst="roundRect">
            <a:avLst>
              <a:gd name="adj" fmla="val 4545"/>
            </a:avLst>
          </a:prstGeom>
          <a:solidFill>
            <a:srgbClr val="F4F7F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58952" y="399592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58952" y="441655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721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Greška i ponavljanje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758952" y="4910328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Mrežni krah, HTTP status i ponovljena komanda nisu ista stvar.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309360" y="3794760"/>
            <a:ext cx="5532120" cy="2011680"/>
          </a:xfrm>
          <a:prstGeom prst="roundRect">
            <a:avLst>
              <a:gd name="adj" fmla="val 4545"/>
            </a:avLst>
          </a:prstGeom>
          <a:solidFill>
            <a:srgbClr val="F4F7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65392" y="399592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565392" y="441655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721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Granica poverenja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6565392" y="4910328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 šalje zahtev, ko sme da menja ventilator, šta provera zaista dokazuje.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6473952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programiranje   ·   Kontrolna soba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418320" y="6473952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9184"/>
            <a:ext cx="9144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721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Kako počinje čas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9611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je na stolu pre termina i pre tačnog odgovora.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828800" cy="3154680"/>
          </a:xfrm>
          <a:prstGeom prst="roundRect">
            <a:avLst>
              <a:gd name="adj" fmla="val 5000"/>
            </a:avLst>
          </a:prstGeom>
          <a:solidFill>
            <a:srgbClr val="F4F7F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03504" y="1572768"/>
            <a:ext cx="1517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03504" y="2121408"/>
            <a:ext cx="1536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721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3504" y="2880360"/>
            <a:ext cx="15361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Jedna situacija iz Kontrolne sobe.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395728" y="1417320"/>
            <a:ext cx="1828800" cy="3154680"/>
          </a:xfrm>
          <a:prstGeom prst="roundRect">
            <a:avLst>
              <a:gd name="adj" fmla="val 5000"/>
            </a:avLst>
          </a:prstGeom>
          <a:solidFill>
            <a:srgbClr val="F4F7F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542032" y="1572768"/>
            <a:ext cx="1517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2542032" y="2121408"/>
            <a:ext cx="1536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721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Odgovori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2542032" y="2880360"/>
            <a:ext cx="15361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Nekoliko opcija, bez označene tačne.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334256" y="1417320"/>
            <a:ext cx="1828800" cy="3154680"/>
          </a:xfrm>
          <a:prstGeom prst="roundRect">
            <a:avLst>
              <a:gd name="adj" fmla="val 5000"/>
            </a:avLst>
          </a:prstGeom>
          <a:solidFill>
            <a:srgbClr val="F4F7F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480560" y="1572768"/>
            <a:ext cx="1517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4480560" y="2121408"/>
            <a:ext cx="1536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721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Diskusija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480560" y="2880360"/>
            <a:ext cx="15361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Svaka opcija dobija razlog za i protiv.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72784" y="1417320"/>
            <a:ext cx="1828800" cy="3154680"/>
          </a:xfrm>
          <a:prstGeom prst="roundRect">
            <a:avLst>
              <a:gd name="adj" fmla="val 5000"/>
            </a:avLst>
          </a:prstGeom>
          <a:solidFill>
            <a:srgbClr val="F8F1E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19088" y="1572768"/>
            <a:ext cx="1517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6419088" y="2121408"/>
            <a:ext cx="1536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721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Zašto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419088" y="2880360"/>
            <a:ext cx="15361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 tada tačan odgovor i obrazloženje.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211312" y="1417320"/>
            <a:ext cx="1828800" cy="3154680"/>
          </a:xfrm>
          <a:prstGeom prst="roundRect">
            <a:avLst>
              <a:gd name="adj" fmla="val 5000"/>
            </a:avLst>
          </a:prstGeom>
          <a:solidFill>
            <a:srgbClr val="F4F7F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357616" y="1572768"/>
            <a:ext cx="1517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8357616" y="2121408"/>
            <a:ext cx="1536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721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Primer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8357616" y="2880360"/>
            <a:ext cx="15361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Pripremljen isečak koji proverava zaključak.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10149840" y="1417320"/>
            <a:ext cx="1828800" cy="3154680"/>
          </a:xfrm>
          <a:prstGeom prst="roundRect">
            <a:avLst>
              <a:gd name="adj" fmla="val 5000"/>
            </a:avLst>
          </a:prstGeom>
          <a:solidFill>
            <a:srgbClr val="F4F7F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296144" y="1572768"/>
            <a:ext cx="1517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10296144" y="2121408"/>
            <a:ext cx="1536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721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Jedna promena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10296144" y="2880360"/>
            <a:ext cx="15361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Isti problem, drugi uslov.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57200" y="4773168"/>
            <a:ext cx="11265408" cy="1417320"/>
          </a:xfrm>
          <a:prstGeom prst="roundRect">
            <a:avLst>
              <a:gd name="adj" fmla="val 6452"/>
            </a:avLst>
          </a:prstGeom>
          <a:solidFill>
            <a:srgbClr val="10241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13232" y="5010912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 min</a:t>
            </a:r>
            <a:endParaRPr lang="en-US" sz="3200" dirty="0"/>
          </a:p>
        </p:txBody>
      </p:sp>
      <p:sp>
        <p:nvSpPr>
          <p:cNvPr id="30" name="Text 28"/>
          <p:cNvSpPr txBox="1"/>
          <p:nvPr/>
        </p:nvSpPr>
        <p:spPr>
          <a:xfrm>
            <a:off x="3017520" y="5074920"/>
            <a:ext cx="8321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je vreme da grupa izabere, uporedi razloge i čuje zašto je svaka opcija tačna, pogrešna ili nedovoljna.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6473952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programiranje   ·   Kontrolna soba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9418320" y="6473952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37960" y="384048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721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Jedan primer kroz ceo kurs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537960" y="1600200"/>
            <a:ext cx="5029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Simulirani staklenik. Nema hardvera, fizike ni bodovanja. Počinje sa jednim očitavanjem i jednim ventilatorom.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537960" y="28803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Kasnije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28803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vreme očitavanja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537960" y="36576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Zatim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138160" y="36576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prag upozorenja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44348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138160" y="44348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istorija komandi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5212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kraju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52120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posmatrač i operater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02920" y="411480"/>
            <a:ext cx="5669280" cy="5806440"/>
          </a:xfrm>
          <a:prstGeom prst="roundRect">
            <a:avLst>
              <a:gd name="adj" fmla="val 1613"/>
            </a:avLst>
          </a:prstGeom>
          <a:solidFill>
            <a:srgbClr val="10241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6858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60" kern="0" dirty="0">
                <a:solidFill>
                  <a:srgbClr val="9BB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STAKLENIK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123444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24°C</a:t>
            </a:r>
            <a:endParaRPr lang="en-US" sz="72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23317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5E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Poslednje očitavanje  ·  sada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22960" y="2971800"/>
            <a:ext cx="5029200" cy="1051560"/>
          </a:xfrm>
          <a:prstGeom prst="roundRect">
            <a:avLst>
              <a:gd name="adj" fmla="val 8696"/>
            </a:avLst>
          </a:prstGeom>
          <a:solidFill>
            <a:srgbClr val="17352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51560" y="31089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BB5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Ventilator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4564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isključen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822960" y="4251960"/>
            <a:ext cx="5029200" cy="777240"/>
          </a:xfrm>
          <a:prstGeom prst="roundRect">
            <a:avLst>
              <a:gd name="adj" fmla="val 11765"/>
            </a:avLst>
          </a:prstGeom>
          <a:solidFill>
            <a:srgbClr val="2F6B4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440740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Sledeći korak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521208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5E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Simulacija ide dugmetom. Automatika dolazi tek sa asinhronošću.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6473952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programiranje   ·   Kontrolna soba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418320" y="6473952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721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Čime se primer pravi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3268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se pominje zbog svrhe. U primeru se ne koristi.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3611880" cy="4617720"/>
          </a:xfrm>
          <a:prstGeom prst="roundRect">
            <a:avLst>
              <a:gd name="adj" fmla="val 2532"/>
            </a:avLst>
          </a:prstGeom>
          <a:solidFill>
            <a:srgbClr val="F4F7F5"/>
          </a:solidFill>
          <a:ln/>
        </p:spPr>
      </p:sp>
      <p:sp>
        <p:nvSpPr>
          <p:cNvPr id="5" name="Shape 3"/>
          <p:cNvSpPr/>
          <p:nvPr/>
        </p:nvSpPr>
        <p:spPr>
          <a:xfrm>
            <a:off x="758952" y="1783080"/>
            <a:ext cx="1051560" cy="384048"/>
          </a:xfrm>
          <a:prstGeom prst="roundRect">
            <a:avLst>
              <a:gd name="adj" fmla="val 19048"/>
            </a:avLst>
          </a:prstGeom>
          <a:solidFill>
            <a:srgbClr val="E7F2E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58952" y="182880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377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721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Browser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2971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HTML, CSS, vanilla JS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58952" y="374904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 i fetch. Prikaz se ažurira eksplicitno.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58952" y="49377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ostaje mapa, ne alat časa.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343400" y="1508760"/>
            <a:ext cx="3611880" cy="4617720"/>
          </a:xfrm>
          <a:prstGeom prst="roundRect">
            <a:avLst>
              <a:gd name="adj" fmla="val 2532"/>
            </a:avLst>
          </a:prstGeom>
          <a:solidFill>
            <a:srgbClr val="F4F7F5"/>
          </a:solidFill>
          <a:ln/>
        </p:spPr>
      </p:sp>
      <p:sp>
        <p:nvSpPr>
          <p:cNvPr id="12" name="Shape 10"/>
          <p:cNvSpPr/>
          <p:nvPr/>
        </p:nvSpPr>
        <p:spPr>
          <a:xfrm>
            <a:off x="4599432" y="1783080"/>
            <a:ext cx="1051560" cy="384048"/>
          </a:xfrm>
          <a:prstGeom prst="roundRect">
            <a:avLst>
              <a:gd name="adj" fmla="val 19048"/>
            </a:avLst>
          </a:prstGeom>
          <a:solidFill>
            <a:srgbClr val="E7F2E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99432" y="182880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599432" y="2377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721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Server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4599432" y="2971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Node.js, modul http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599432" y="374904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Nekoliko ruta, bez Express-a. Handler je vidljiv.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599432" y="49377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se objašnjava kao organizacija.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183880" y="1508760"/>
            <a:ext cx="3611880" cy="4617720"/>
          </a:xfrm>
          <a:prstGeom prst="roundRect">
            <a:avLst>
              <a:gd name="adj" fmla="val 2532"/>
            </a:avLst>
          </a:prstGeom>
          <a:solidFill>
            <a:srgbClr val="F4F7F5"/>
          </a:solidFill>
          <a:ln/>
        </p:spPr>
      </p:sp>
      <p:sp>
        <p:nvSpPr>
          <p:cNvPr id="19" name="Shape 17"/>
          <p:cNvSpPr/>
          <p:nvPr/>
        </p:nvSpPr>
        <p:spPr>
          <a:xfrm>
            <a:off x="8439912" y="1783080"/>
            <a:ext cx="1051560" cy="384048"/>
          </a:xfrm>
          <a:prstGeom prst="roundRect">
            <a:avLst>
              <a:gd name="adj" fmla="val 19048"/>
            </a:avLst>
          </a:prstGeom>
          <a:solidFill>
            <a:srgbClr val="E7F2E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439912" y="182880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439912" y="2377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721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Baza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8439912" y="2971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u Dockeru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8439912" y="374904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Parametrizovan SQL. Studenti SQL već znaju.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8439912" y="49377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Nema kursa administracije baze.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473952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programiranje   ·   Kontrolna soba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418320" y="6473952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C9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NEDELJE 1–5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721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časova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80160"/>
            <a:ext cx="11183112" cy="877824"/>
          </a:xfrm>
          <a:prstGeom prst="roundRect">
            <a:avLst>
              <a:gd name="adj" fmla="val 10417"/>
            </a:avLst>
          </a:prstGeom>
          <a:solidFill>
            <a:srgbClr val="F4F7F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13232" y="1499616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138988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721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Šta browser prikazuje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1719072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 alatima browsera 24°C postane 10°C. Šta smo time promenili?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2267712"/>
            <a:ext cx="11183112" cy="877824"/>
          </a:xfrm>
          <a:prstGeom prst="roundRect">
            <a:avLst>
              <a:gd name="adj" fmla="val 10417"/>
            </a:avLst>
          </a:prstGeom>
          <a:solidFill>
            <a:srgbClr val="F4F7F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2487168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691640" y="2377440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721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JavaScript opisuje stanje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691640" y="2706624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je const i drži objekat. panel pokazuje na isti objekat. Šta sme, i šta panel vidi?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02920" y="3255264"/>
            <a:ext cx="11183112" cy="877824"/>
          </a:xfrm>
          <a:prstGeom prst="roundRect">
            <a:avLst>
              <a:gd name="adj" fmla="val 10417"/>
            </a:avLst>
          </a:prstGeom>
          <a:solidFill>
            <a:srgbClr val="F4F7F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13232" y="3474720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1691640" y="3364992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721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Događaji povezuju korisnika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691640" y="3694176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Klik na „Sledeći korak” treba da promeni broj na stranici. Šta je dovoljno?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2920" y="4242816"/>
            <a:ext cx="11183112" cy="877824"/>
          </a:xfrm>
          <a:prstGeom prst="roundRect">
            <a:avLst>
              <a:gd name="adj" fmla="val 10417"/>
            </a:avLst>
          </a:prstGeom>
          <a:solidFill>
            <a:srgbClr val="F4F7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3232" y="4462272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1691640" y="4352544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721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HTTP zahtev i Node server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691640" y="4681728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handler hoće da ugasi dugme na stranici. Šta on zapravo može?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02920" y="5230368"/>
            <a:ext cx="11183112" cy="877824"/>
          </a:xfrm>
          <a:prstGeom prst="roundRect">
            <a:avLst>
              <a:gd name="adj" fmla="val 10417"/>
            </a:avLst>
          </a:prstGeom>
          <a:solidFill>
            <a:srgbClr val="F4F7F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5449824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1691640" y="5340096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721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Čekanje i neuspeh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1691640" y="5669280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temperature dobije HTTP 500. Šta iz toga sledi?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02920" y="6473952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programiranje   ·   Kontrolna soba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418320" y="6473952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C9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NEDELJE 6–10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721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časova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80160"/>
            <a:ext cx="11183112" cy="877824"/>
          </a:xfrm>
          <a:prstGeom prst="roundRect">
            <a:avLst>
              <a:gd name="adj" fmla="val 10417"/>
            </a:avLst>
          </a:prstGeom>
          <a:solidFill>
            <a:srgbClr val="F4F7F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13232" y="1499616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138988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721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Komande i ponavljanje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1719072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Ista komanda ventilatoru može da stigne dvaput. Šta je bezbedno ponoviti?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2267712"/>
            <a:ext cx="11183112" cy="877824"/>
          </a:xfrm>
          <a:prstGeom prst="roundRect">
            <a:avLst>
              <a:gd name="adj" fmla="val 10417"/>
            </a:avLst>
          </a:prstGeom>
          <a:solidFill>
            <a:srgbClr val="F4F7F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2487168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691640" y="2377440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721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Trajno stanje i Docker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691640" y="2706624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Stanje ventilatora je upisano, istorija komande nije. Da li je evidencija pouzdana?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02920" y="3255264"/>
            <a:ext cx="11183112" cy="877824"/>
          </a:xfrm>
          <a:prstGeom prst="roundRect">
            <a:avLst>
              <a:gd name="adj" fmla="val 10417"/>
            </a:avLst>
          </a:prstGeom>
          <a:solidFill>
            <a:srgbClr val="F4F7F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13232" y="3474720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1691640" y="3364992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721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Koliko je prikaz svež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691640" y="3694176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panelu piše 24 °C. Očitavanje je staro deset minuta. Šta znamo?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2920" y="4242816"/>
            <a:ext cx="11183112" cy="877824"/>
          </a:xfrm>
          <a:prstGeom prst="roundRect">
            <a:avLst>
              <a:gd name="adj" fmla="val 10417"/>
            </a:avLst>
          </a:prstGeom>
          <a:solidFill>
            <a:srgbClr val="F4F7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3232" y="4462272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1691640" y="4352544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721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 sme da upravlja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691640" y="4681728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Posmatrač nema dugme „Uključi”. Da li je time server zaštićen?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02920" y="5230368"/>
            <a:ext cx="11183112" cy="877824"/>
          </a:xfrm>
          <a:prstGeom prst="roundRect">
            <a:avLst>
              <a:gd name="adj" fmla="val 10417"/>
            </a:avLst>
          </a:prstGeom>
          <a:solidFill>
            <a:srgbClr val="F4F7F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5449824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1691640" y="5340096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721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Ceo sistem i šira slika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1691640" y="5669280"/>
            <a:ext cx="9601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Ekran kaže „uključeno”. Odgovor na komandu nije stigao. Šta sme da se zaključi?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02920" y="6473952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programiranje   ·   Kontrolna soba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418320" y="6473952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20040"/>
            <a:ext cx="5806440" cy="5989320"/>
          </a:xfrm>
          <a:prstGeom prst="roundRect">
            <a:avLst>
              <a:gd name="adj" fmla="val 1575"/>
            </a:avLst>
          </a:prstGeom>
          <a:solidFill>
            <a:srgbClr val="10241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566928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40" kern="0" dirty="0">
                <a:solidFill>
                  <a:srgbClr val="C9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ČAS  01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96012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Šta browser prikazuje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28800"/>
            <a:ext cx="5212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3F7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 alatima browsera 24°C postane 10°C. Šta smo time promenili?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07492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E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Prvo izbor. Zatim razlog za svaku opciju.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D5E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Tačan odgovor je na sledećem slajdu.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355080" y="320040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4F7F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37960" y="466344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576072"/>
            <a:ext cx="4526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Temperaturu u stakleniku.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355080" y="1856232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4F7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37960" y="2002536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2112264"/>
            <a:ext cx="4526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dokument koji stoji na serveru.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355080" y="3392424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4F7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37960" y="353872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3648456"/>
            <a:ext cx="4526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Lokalni prikaz u ovom browseru.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355080" y="4928616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4F7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37960" y="507492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040880" y="5184648"/>
            <a:ext cx="4526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merenje i server, jer ekran jeste stanje sistema.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6473952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programiranje   ·   Kontrolna soba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418320" y="6473952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C9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ČAS  01   ·   RAZLOZI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12064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721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Šta browser prikazuje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11292840" cy="1170432"/>
          </a:xfrm>
          <a:prstGeom prst="roundRect">
            <a:avLst>
              <a:gd name="adj" fmla="val 7813"/>
            </a:avLst>
          </a:prstGeom>
          <a:solidFill>
            <a:srgbClr val="F4F7F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1444752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43584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Nije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606040" y="1225296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Temperaturu u stakleniku.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591056"/>
            <a:ext cx="10195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Senzor i merenje nismo dirali. Broj na ekranu nije nova temperatura prostorije.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11292840" cy="1170432"/>
          </a:xfrm>
          <a:prstGeom prst="roundRect">
            <a:avLst>
              <a:gd name="adj" fmla="val 7813"/>
            </a:avLst>
          </a:prstGeom>
          <a:solidFill>
            <a:srgbClr val="F4F7F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" y="2724912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523744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Nije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606040" y="2505456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dokument koji stoji na serveru.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2871216"/>
            <a:ext cx="10195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Nema zahteva koji menja dokument. Osvežavanje može vratiti prvobitnih 24 °C.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657600"/>
            <a:ext cx="11292840" cy="1170432"/>
          </a:xfrm>
          <a:prstGeom prst="roundRect">
            <a:avLst>
              <a:gd name="adj" fmla="val 7813"/>
            </a:avLst>
          </a:prstGeom>
          <a:solidFill>
            <a:srgbClr val="10241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8368" y="4005072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803904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Tačno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606040" y="3785616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Lokalni prikaz u ovom browseru.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4151376"/>
            <a:ext cx="10195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5E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Promenjen je samo prikaz. Ekran nije sam po sebi stanje staklenika.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4937760"/>
            <a:ext cx="11292840" cy="1170432"/>
          </a:xfrm>
          <a:prstGeom prst="roundRect">
            <a:avLst>
              <a:gd name="adj" fmla="val 7813"/>
            </a:avLst>
          </a:prstGeom>
          <a:solidFill>
            <a:srgbClr val="F4F7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5285232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5084064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Nije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2606040" y="5065776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merenje i server, jer ekran jeste stanje sistema.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5431536"/>
            <a:ext cx="10195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Prikaz, dokument i merenje su tri različite stvari. Izmena u alatima dira samo prvu.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02920" y="6473952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programiranje   ·   Kontrolna soba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418320" y="6473952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20040"/>
            <a:ext cx="5806440" cy="5989320"/>
          </a:xfrm>
          <a:prstGeom prst="roundRect">
            <a:avLst>
              <a:gd name="adj" fmla="val 1575"/>
            </a:avLst>
          </a:prstGeom>
          <a:solidFill>
            <a:srgbClr val="10241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566928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40" kern="0" dirty="0">
                <a:solidFill>
                  <a:srgbClr val="C9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ČAS  02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96012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JavaScript opisuje stanje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28800"/>
            <a:ext cx="5212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3F7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room je const i drži objekat. panel pokazuje na isti objekat. Šta sme, i šta panel vidi?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07492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E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Prvo izbor. Zatim razlog za svaku opciju.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D5E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Tačan odgovor je na sledećem slajdu.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355080" y="320040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4F7F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37960" y="466344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576072"/>
            <a:ext cx="4526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Ništa: const zamrzava objekat, a panel ima svoju kopiju.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355080" y="1856232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4F7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37960" y="2002536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2112264"/>
            <a:ext cx="4526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Polje sme da se menja. panel vidi istu izmenu.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355080" y="3392424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4F7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37960" y="353872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3648456"/>
            <a:ext cx="4526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Polje sme samo ako const zamenimo sa let.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355080" y="4928616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4F7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37960" y="507492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040880" y="5184648"/>
            <a:ext cx="4526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Polje sme, ali panel ne vidi izmenu.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6473952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programiranje   ·   Kontrolna soba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418320" y="6473952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C9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ČAS  02   ·   RAZLOZI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12064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721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JavaScript opisuje stanje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11292840" cy="1170432"/>
          </a:xfrm>
          <a:prstGeom prst="roundRect">
            <a:avLst>
              <a:gd name="adj" fmla="val 7813"/>
            </a:avLst>
          </a:prstGeom>
          <a:solidFill>
            <a:srgbClr val="F4F7F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1444752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43584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Nije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606040" y="1225296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Ništa: const zamrzava objekat, a panel ima svoju kopiju.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591056"/>
            <a:ext cx="10195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 brani novu dodelu imena, ne polje. Drugo ime ne pravi kopiju objekta.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11292840" cy="1170432"/>
          </a:xfrm>
          <a:prstGeom prst="roundRect">
            <a:avLst>
              <a:gd name="adj" fmla="val 7813"/>
            </a:avLst>
          </a:prstGeom>
          <a:solidFill>
            <a:srgbClr val="10241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" y="2724912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523744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Tačno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606040" y="2505456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Polje sme da se menja. panel vidi istu izmenu.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2871216"/>
            <a:ext cx="10195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5E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room.temperature sme da se promeni. panel gleda isti objekat, pa vidi istu vrednost.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657600"/>
            <a:ext cx="11292840" cy="1170432"/>
          </a:xfrm>
          <a:prstGeom prst="roundRect">
            <a:avLst>
              <a:gd name="adj" fmla="val 7813"/>
            </a:avLst>
          </a:prstGeom>
          <a:solidFill>
            <a:srgbClr val="F4F7F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8368" y="4005072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803904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Nije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606040" y="3785616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Polje sme samo ako const zamenimo sa let.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4151376"/>
            <a:ext cx="10195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i const se razlikuju po ponovnoj dodeli imena, ne po izmeni polja.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4937760"/>
            <a:ext cx="11292840" cy="1170432"/>
          </a:xfrm>
          <a:prstGeom prst="roundRect">
            <a:avLst>
              <a:gd name="adj" fmla="val 7813"/>
            </a:avLst>
          </a:prstGeom>
          <a:solidFill>
            <a:srgbClr val="F4F7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5285232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5084064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Nije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2606040" y="5065776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Polje sme, ali panel ne vidi izmenu.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5431536"/>
            <a:ext cx="10195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Dva imena mogu pokazivati na jedan objekat. Izmena kroz jedno vidi se kroz drugo.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02920" y="6473952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programiranje   ·   Kontrolna soba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418320" y="6473952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20040"/>
            <a:ext cx="5806440" cy="5989320"/>
          </a:xfrm>
          <a:prstGeom prst="roundRect">
            <a:avLst>
              <a:gd name="adj" fmla="val 1575"/>
            </a:avLst>
          </a:prstGeom>
          <a:solidFill>
            <a:srgbClr val="10241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566928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40" kern="0" dirty="0">
                <a:solidFill>
                  <a:srgbClr val="C9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ČAS  03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96012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Događaji povezuju korisnika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28800"/>
            <a:ext cx="5212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3F7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Klik na „Sledeći korak” treba da promeni broj na stranici. Šta je dovoljno?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07492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E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Prvo izbor. Zatim razlog za svaku opciju.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D5E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Tačan odgovor je na sledećem slajdu.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355080" y="320040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4F7F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37960" y="466344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576072"/>
            <a:ext cx="4526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Dovoljno je promeniti polje objekta. Stranica sama prati objekat.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355080" y="1856232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4F7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37960" y="2002536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2112264"/>
            <a:ext cx="4526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Handler menja stanje, a drugi kod zatim crta prikaz. Listener dobija funkciju.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355080" y="3392424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4F7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37960" y="353872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3648456"/>
            <a:ext cx="4526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addEventListener('click', update()) znači: pozovi update na klik.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355080" y="4928616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4F7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37960" y="507492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040880" y="5184648"/>
            <a:ext cx="4526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Dovoljno je da objekat bude u const. Browser ga tada crta sam.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6473952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programiranje   ·   Kontrolna soba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418320" y="6473952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C9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ČAS  03   ·   RAZLOZI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12064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721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Događaji povezuju korisnika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11292840" cy="1170432"/>
          </a:xfrm>
          <a:prstGeom prst="roundRect">
            <a:avLst>
              <a:gd name="adj" fmla="val 7813"/>
            </a:avLst>
          </a:prstGeom>
          <a:solidFill>
            <a:srgbClr val="F4F7F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1444752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43584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Nije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606040" y="1225296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Dovoljno je promeniti polje objekta. Stranica sama prati objekat.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591056"/>
            <a:ext cx="10195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 ovom primeru objekat ne obnavlja DOM. Treba kod koji posebno menja tekst.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11292840" cy="1170432"/>
          </a:xfrm>
          <a:prstGeom prst="roundRect">
            <a:avLst>
              <a:gd name="adj" fmla="val 7813"/>
            </a:avLst>
          </a:prstGeom>
          <a:solidFill>
            <a:srgbClr val="10241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" y="2724912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523744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Tačno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606040" y="2505456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Handler menja stanje, a drugi kod zatim crta prikaz. Listener dobija funkciju.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2871216"/>
            <a:ext cx="10195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5E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Klik zove sačuvanu funkciju. update prosleđuje funkciju; update() je zove odmah i predaje rezultat.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657600"/>
            <a:ext cx="11292840" cy="1170432"/>
          </a:xfrm>
          <a:prstGeom prst="roundRect">
            <a:avLst>
              <a:gd name="adj" fmla="val 7813"/>
            </a:avLst>
          </a:prstGeom>
          <a:solidFill>
            <a:srgbClr val="F4F7F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8368" y="4005072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803904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Nije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606040" y="3785616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addEventListener('click', update()) znači: pozovi update na klik.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4151376"/>
            <a:ext cx="10195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Zagrade su poziv odmah, pre klika. Listener dobije povratnu vrednost, ne funkciju.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4937760"/>
            <a:ext cx="11292840" cy="1170432"/>
          </a:xfrm>
          <a:prstGeom prst="roundRect">
            <a:avLst>
              <a:gd name="adj" fmla="val 7813"/>
            </a:avLst>
          </a:prstGeom>
          <a:solidFill>
            <a:srgbClr val="F4F7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5285232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5084064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Nije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2606040" y="5065776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Dovoljno je da objekat bude u const. Browser ga tada crta sam.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5431536"/>
            <a:ext cx="10195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 ne povezuje objekat sa stranicom. Prikaz i dalje traži eksplicitan kod.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02920" y="6473952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programiranje   ·   Kontrolna soba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418320" y="6473952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20040"/>
            <a:ext cx="5806440" cy="5989320"/>
          </a:xfrm>
          <a:prstGeom prst="roundRect">
            <a:avLst>
              <a:gd name="adj" fmla="val 1575"/>
            </a:avLst>
          </a:prstGeom>
          <a:solidFill>
            <a:srgbClr val="10241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566928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40" kern="0" dirty="0">
                <a:solidFill>
                  <a:srgbClr val="C9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ČAS  04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96012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HTTP zahtev i Node server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28800"/>
            <a:ext cx="5212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3F7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Node handler hoće da ugasi dugme na stranici. Šta on zapravo može?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07492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E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Prvo izbor. Zatim razlog za svaku opciju.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D5E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Tačan odgovor je na sledećem slajdu.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355080" y="320040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4F7F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37960" y="466344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576072"/>
            <a:ext cx="4526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pozove document.querySelector, jer vidi isti dokument.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355080" y="1856232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4F7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37960" y="2002536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2112264"/>
            <a:ext cx="4526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vrati podatke ili dokument. Dugme menja browser kad obradi odgovor.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355080" y="3392424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4F7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37960" y="353872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3648456"/>
            <a:ext cx="4526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Nepostojeća putanja i ugašen port su ista greška: oba su 404.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355080" y="4928616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4F7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37960" y="507492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040880" y="5184648"/>
            <a:ext cx="4526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menja DOM ako je zahtev došao iz ovog browsera.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6473952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programiranje   ·   Kontrolna soba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418320" y="6473952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C9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ČAS  04   ·   RAZLOZI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12064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721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HTTP zahtev i Node server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11292840" cy="1170432"/>
          </a:xfrm>
          <a:prstGeom prst="roundRect">
            <a:avLst>
              <a:gd name="adj" fmla="val 7813"/>
            </a:avLst>
          </a:prstGeom>
          <a:solidFill>
            <a:srgbClr val="F4F7F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1444752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43584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Nije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606040" y="1225296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pozove document.querySelector, jer vidi isti dokument.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591056"/>
            <a:ext cx="10195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 pripada browseru. U Node procesu tog dokumenta nema.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11292840" cy="1170432"/>
          </a:xfrm>
          <a:prstGeom prst="roundRect">
            <a:avLst>
              <a:gd name="adj" fmla="val 7813"/>
            </a:avLst>
          </a:prstGeom>
          <a:solidFill>
            <a:srgbClr val="10241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" y="2724912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523744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Tačno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606040" y="2505456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vrati podatke ili dokument. Dugme menja browser kad obradi odgovor.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2871216"/>
            <a:ext cx="10195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5E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odgovara. Browser prima odgovor i tek onda menja sopstveni prikaz.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657600"/>
            <a:ext cx="11292840" cy="1170432"/>
          </a:xfrm>
          <a:prstGeom prst="roundRect">
            <a:avLst>
              <a:gd name="adj" fmla="val 7813"/>
            </a:avLst>
          </a:prstGeom>
          <a:solidFill>
            <a:srgbClr val="F4F7F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8368" y="4005072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803904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Nije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606040" y="3785616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Nepostojeća putanja i ugašen port su ista greška: oba su 404.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4151376"/>
            <a:ext cx="10195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Putanja koje nema može dati 404. Na ugašenom portu nema HTTP odgovora tog servera.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4937760"/>
            <a:ext cx="11292840" cy="1170432"/>
          </a:xfrm>
          <a:prstGeom prst="roundRect">
            <a:avLst>
              <a:gd name="adj" fmla="val 7813"/>
            </a:avLst>
          </a:prstGeom>
          <a:solidFill>
            <a:srgbClr val="F4F7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5285232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5084064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Nije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2606040" y="5065776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menja DOM ako je zahtev došao iz ovog browsera.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5431536"/>
            <a:ext cx="10195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Poreklo zahteva ne premešta DOM na server. Odgovor i dalje ide nazad u browser.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02920" y="6473952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programiranje   ·   Kontrolna soba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418320" y="6473952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20040"/>
            <a:ext cx="5806440" cy="5989320"/>
          </a:xfrm>
          <a:prstGeom prst="roundRect">
            <a:avLst>
              <a:gd name="adj" fmla="val 1575"/>
            </a:avLst>
          </a:prstGeom>
          <a:solidFill>
            <a:srgbClr val="10241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566928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40" kern="0" dirty="0">
                <a:solidFill>
                  <a:srgbClr val="C9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ČAS  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96012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Čekanje i neuspeh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28800"/>
            <a:ext cx="5212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3F7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fetch temperature dobije HTTP 500. Šta iz toga sledi?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07492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E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Prvo izbor. Zatim razlog za svaku opciju.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D5E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Tačan odgovor je na sledećem slajdu.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355080" y="320040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4F7F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37960" y="466344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576072"/>
            <a:ext cx="4526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Uvek catch: 500 je greška, dakle izuzetak.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355080" y="1856232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4F7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37960" y="2002536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2112264"/>
            <a:ext cx="4526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Odgovor postoji. Uspeh proveravamo preko statusa i response.ok.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355080" y="3392424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4F7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37960" y="353872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3648456"/>
            <a:ext cx="4526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Isto je kao ugašen server: odgovora nema.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355080" y="4928616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4F7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37960" y="507492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040880" y="5184648"/>
            <a:ext cx="4526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await zaustavlja browser, pa drugi klik mora da sačeka.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6473952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programiranje   ·   Kontrolna soba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418320" y="6473952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C9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ČAS  05   ·   RAZLOZI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12064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721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Čekanje i neuspeh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11292840" cy="1170432"/>
          </a:xfrm>
          <a:prstGeom prst="roundRect">
            <a:avLst>
              <a:gd name="adj" fmla="val 7813"/>
            </a:avLst>
          </a:prstGeom>
          <a:solidFill>
            <a:srgbClr val="F4F7F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1444752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43584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Nije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606040" y="1225296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Uvek catch: 500 je greška, dakle izuzetak.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591056"/>
            <a:ext cx="10195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Odgovor je stigao. catch ovde pripada mrežnom krahu ili grešci čitanja, ne samom statusu.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11292840" cy="1170432"/>
          </a:xfrm>
          <a:prstGeom prst="roundRect">
            <a:avLst>
              <a:gd name="adj" fmla="val 7813"/>
            </a:avLst>
          </a:prstGeom>
          <a:solidFill>
            <a:srgbClr val="10241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" y="2724912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523744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Tačno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606040" y="2505456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Odgovor postoji. Uspeh proveravamo preko statusa i response.ok.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2871216"/>
            <a:ext cx="10195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5E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nije uspešna operacija, ali jeste HTTP odgovor. Status i ok odvajaju taj slučaj od uspeha.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657600"/>
            <a:ext cx="11292840" cy="1170432"/>
          </a:xfrm>
          <a:prstGeom prst="roundRect">
            <a:avLst>
              <a:gd name="adj" fmla="val 7813"/>
            </a:avLst>
          </a:prstGeom>
          <a:solidFill>
            <a:srgbClr val="F4F7F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8368" y="4005072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803904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Nije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606040" y="3785616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Isto je kao ugašen server: odgovora nema.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4151376"/>
            <a:ext cx="10195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Ugašen server ne pošalje ovaj odgovor. 500 je odgovor sa statusom neuspeha.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4937760"/>
            <a:ext cx="11292840" cy="1170432"/>
          </a:xfrm>
          <a:prstGeom prst="roundRect">
            <a:avLst>
              <a:gd name="adj" fmla="val 7813"/>
            </a:avLst>
          </a:prstGeom>
          <a:solidFill>
            <a:srgbClr val="F4F7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5285232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5084064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Nije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2606040" y="5065776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await zaustavlja browser, pa drugi klik mora da sačeka.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5431536"/>
            <a:ext cx="10195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await zaustavlja tu funkciju, ne ceo browser. Drugi događaj i dalje može da se desi.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02920" y="6473952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programiranje   ·   Kontrolna soba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418320" y="6473952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20040"/>
            <a:ext cx="5806440" cy="5989320"/>
          </a:xfrm>
          <a:prstGeom prst="roundRect">
            <a:avLst>
              <a:gd name="adj" fmla="val 1575"/>
            </a:avLst>
          </a:prstGeom>
          <a:solidFill>
            <a:srgbClr val="10241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566928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40" kern="0" dirty="0">
                <a:solidFill>
                  <a:srgbClr val="C9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ČAS  06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96012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Komande i ponavljanje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28800"/>
            <a:ext cx="5212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3F7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Ista komanda ventilatoru može da stigne dvaput. Šta je bezbedno ponoviti?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07492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E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Prvo izbor. Zatim razlog za svaku opciju.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D5E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Tačan odgovor je na sledećem slajdu.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355080" y="320040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4F7F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37960" y="466344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576072"/>
            <a:ext cx="4526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„Promeni stanje”: drugi put vraća na staro, pa je bezbednija.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355080" y="1856232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4F7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37960" y="2002536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2112264"/>
            <a:ext cx="4526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„Postavi na uključeno”: drugi put ostavlja isti željeni efekat.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355080" y="3392424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4F7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37960" y="353872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3648456"/>
            <a:ext cx="4526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nudi samo dve vrednosti, pa server ne može dobiti ništa drugo.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355080" y="4928616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4F7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37960" y="507492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040880" y="5184648"/>
            <a:ext cx="4526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Svaka komanda sa statusom 200 sme da se ponovi bez posledica.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6473952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programiranje   ·   Kontrolna soba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418320" y="6473952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C9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ČAS  06   ·   RAZLOZI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12064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721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Komande i ponavljanje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11292840" cy="1170432"/>
          </a:xfrm>
          <a:prstGeom prst="roundRect">
            <a:avLst>
              <a:gd name="adj" fmla="val 7813"/>
            </a:avLst>
          </a:prstGeom>
          <a:solidFill>
            <a:srgbClr val="F4F7F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1444752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43584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Nije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606040" y="1225296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„Promeni stanje”: drugi put vraća na staro, pa je bezbednija.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591056"/>
            <a:ext cx="10195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Drugi put može poništiti efekat prvog. Ponavljanje menja ishod.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11292840" cy="1170432"/>
          </a:xfrm>
          <a:prstGeom prst="roundRect">
            <a:avLst>
              <a:gd name="adj" fmla="val 7813"/>
            </a:avLst>
          </a:prstGeom>
          <a:solidFill>
            <a:srgbClr val="10241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" y="2724912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523744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Tačno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606040" y="2505456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„Postavi na uključeno”: drugi put ostavlja isti željeni efekat.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2871216"/>
            <a:ext cx="10195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5E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Oba puta želimo uključeno. To ne garantuje jedan zapis u logu ni jednu isporuku.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657600"/>
            <a:ext cx="11292840" cy="1170432"/>
          </a:xfrm>
          <a:prstGeom prst="roundRect">
            <a:avLst>
              <a:gd name="adj" fmla="val 7813"/>
            </a:avLst>
          </a:prstGeom>
          <a:solidFill>
            <a:srgbClr val="F4F7F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8368" y="4005072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803904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Nije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606040" y="3785616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nudi samo dve vrednosti, pa server ne može dobiti ništa drugo.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4151376"/>
            <a:ext cx="10195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Zahtev može doći mimo ekrana. Server proverava telo koje je stvarno stiglo.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4937760"/>
            <a:ext cx="11292840" cy="1170432"/>
          </a:xfrm>
          <a:prstGeom prst="roundRect">
            <a:avLst>
              <a:gd name="adj" fmla="val 7813"/>
            </a:avLst>
          </a:prstGeom>
          <a:solidFill>
            <a:srgbClr val="F4F7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5285232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5084064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Nije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2606040" y="5065776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Svaka komanda sa statusom 200 sme da se ponovi bez posledica.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5431536"/>
            <a:ext cx="10195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kaže da je odgovor stigao. Ne kaže da ponavljanje ima isti efekat na stanje.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02920" y="6473952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programiranje   ·   Kontrolna soba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418320" y="6473952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20040"/>
            <a:ext cx="5806440" cy="5989320"/>
          </a:xfrm>
          <a:prstGeom prst="roundRect">
            <a:avLst>
              <a:gd name="adj" fmla="val 1575"/>
            </a:avLst>
          </a:prstGeom>
          <a:solidFill>
            <a:srgbClr val="10241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566928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40" kern="0" dirty="0">
                <a:solidFill>
                  <a:srgbClr val="C9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ČAS  07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96012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Trajno stanje i Docker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28800"/>
            <a:ext cx="5212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3F7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Stanje ventilatora je upisano, istorija komande nije. Da li je evidencija pouzdana?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07492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E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Prvo izbor. Zatim razlog za svaku opciju.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D5E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Tačan odgovor je na sledećem slajdu.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355080" y="320040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4F7F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37960" y="466344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576072"/>
            <a:ext cx="4526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Jeste: bitno stanje jeste sačuvano, istorija je sporedna.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355080" y="1856232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4F7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37960" y="2002536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2112264"/>
            <a:ext cx="4526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Nije, dok oba upisa nisu jedna celina. Zato postoji transakcija.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355080" y="3392424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4F7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37960" y="353872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3648456"/>
            <a:ext cx="4526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treba kredencijale baze da sam proveri istoriju.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355080" y="4928616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4F7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37960" y="507492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040880" y="5184648"/>
            <a:ext cx="4526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kontejner sam čuva oba upisa, i bez transakcije.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6473952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programiranje   ·   Kontrolna soba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418320" y="6473952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C9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ČAS  07   ·   RAZLOZI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12064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721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Trajno stanje i Docker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11292840" cy="1170432"/>
          </a:xfrm>
          <a:prstGeom prst="roundRect">
            <a:avLst>
              <a:gd name="adj" fmla="val 7813"/>
            </a:avLst>
          </a:prstGeom>
          <a:solidFill>
            <a:srgbClr val="F4F7F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1444752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43584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Nije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606040" y="1225296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Jeste: bitno stanje jeste sačuvano, istorija je sporedna.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591056"/>
            <a:ext cx="10195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Povezane promene gledamo zajedno. Stanje bez istorije je rascep, ne cela evidencija.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11292840" cy="1170432"/>
          </a:xfrm>
          <a:prstGeom prst="roundRect">
            <a:avLst>
              <a:gd name="adj" fmla="val 7813"/>
            </a:avLst>
          </a:prstGeom>
          <a:solidFill>
            <a:srgbClr val="10241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" y="2724912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523744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Tačno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606040" y="2505456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Nije, dok oba upisa nisu jedna celina. Zato postoji transakcija.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2871216"/>
            <a:ext cx="10195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5E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Dva upita nisu sami po sebi atomski. Rollback ili oba uspeju. Restart Node-a to ne spaja.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657600"/>
            <a:ext cx="11292840" cy="1170432"/>
          </a:xfrm>
          <a:prstGeom prst="roundRect">
            <a:avLst>
              <a:gd name="adj" fmla="val 7813"/>
            </a:avLst>
          </a:prstGeom>
          <a:solidFill>
            <a:srgbClr val="F4F7F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8368" y="4005072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803904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Nije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606040" y="3785616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treba kredencijale baze da sam proveri istoriju.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4151376"/>
            <a:ext cx="10195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Javni klijent ne čuva serversku tajnu. Server posreduje i proverava prava.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4937760"/>
            <a:ext cx="11292840" cy="1170432"/>
          </a:xfrm>
          <a:prstGeom prst="roundRect">
            <a:avLst>
              <a:gd name="adj" fmla="val 7813"/>
            </a:avLst>
          </a:prstGeom>
          <a:solidFill>
            <a:srgbClr val="F4F7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5285232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5084064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Nije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2606040" y="5065776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kontejner sam čuva oba upisa, i bez transakcije.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5431536"/>
            <a:ext cx="10195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Kontejner nije ni transakcija ni sam po sebi trajno skladište. Trajnost zavisi od mesta čuvanja.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02920" y="6473952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programiranje   ·   Kontrolna soba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418320" y="6473952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20040"/>
            <a:ext cx="5806440" cy="5989320"/>
          </a:xfrm>
          <a:prstGeom prst="roundRect">
            <a:avLst>
              <a:gd name="adj" fmla="val 1575"/>
            </a:avLst>
          </a:prstGeom>
          <a:solidFill>
            <a:srgbClr val="10241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566928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40" kern="0" dirty="0">
                <a:solidFill>
                  <a:srgbClr val="C9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ČAS  08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96012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Koliko je prikaz svež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28800"/>
            <a:ext cx="5212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3F7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 panelu piše 24 °C. Očitavanje je staro deset minuta. Šta znamo?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07492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E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Prvo izbor. Zatim razlog za svaku opciju.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D5E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Tačan odgovor je na sledećem slajdu.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355080" y="320040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4F7F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37960" y="466344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576072"/>
            <a:ext cx="4526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Znamo sadašnju temperaturu, jer broj jeste na ekranu.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355080" y="1856232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4F7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37960" y="2002536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2112264"/>
            <a:ext cx="4526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Znamo poslednje očitavanje, ne temperaturu u ovom trenutku.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355080" y="3392424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4F7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37960" y="353872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3648456"/>
            <a:ext cx="4526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Keš je uvek greška: ikonica i temperatura moraju isti rok.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355080" y="4928616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4F7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37960" y="507492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040880" y="5184648"/>
            <a:ext cx="4526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Stariji odgovor sme da prepiše noviji, jer je i on sa servera.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6473952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programiranje   ·   Kontrolna soba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418320" y="6473952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C9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ČAS  08   ·   RAZLOZI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12064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721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Koliko je prikaz svež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11292840" cy="1170432"/>
          </a:xfrm>
          <a:prstGeom prst="roundRect">
            <a:avLst>
              <a:gd name="adj" fmla="val 7813"/>
            </a:avLst>
          </a:prstGeom>
          <a:solidFill>
            <a:srgbClr val="F4F7F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1444752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43584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Nije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606040" y="1225296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Znamo sadašnju temperaturu, jer broj jeste na ekranu.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591056"/>
            <a:ext cx="10195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Broj bez starosti ne znači sadašnje stanje. Znamo samo šta je poslednji put stiglo.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11292840" cy="1170432"/>
          </a:xfrm>
          <a:prstGeom prst="roundRect">
            <a:avLst>
              <a:gd name="adj" fmla="val 7813"/>
            </a:avLst>
          </a:prstGeom>
          <a:solidFill>
            <a:srgbClr val="10241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" y="2724912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523744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Tačno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606040" y="2505456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Znamo poslednje očitavanje, ne temperaturu u ovom trenutku.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2871216"/>
            <a:ext cx="10195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5E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Treba vreme merenja i jasan prikaz da je podatak zastareo ili nedostupan.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657600"/>
            <a:ext cx="11292840" cy="1170432"/>
          </a:xfrm>
          <a:prstGeom prst="roundRect">
            <a:avLst>
              <a:gd name="adj" fmla="val 7813"/>
            </a:avLst>
          </a:prstGeom>
          <a:solidFill>
            <a:srgbClr val="F4F7F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8368" y="4005072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803904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Nije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606040" y="3785616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Keš je uvek greška: ikonica i temperatura moraju isti rok.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4151376"/>
            <a:ext cx="10195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Svežina zavisi od posledice. Zastarela ikonica i zastarela temperatura nisu isti problem.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4937760"/>
            <a:ext cx="11292840" cy="1170432"/>
          </a:xfrm>
          <a:prstGeom prst="roundRect">
            <a:avLst>
              <a:gd name="adj" fmla="val 7813"/>
            </a:avLst>
          </a:prstGeom>
          <a:solidFill>
            <a:srgbClr val="F4F7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5285232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5084064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Nije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2606040" y="5065776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Stariji odgovor sme da prepiše noviji, jer je i on sa servera.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5431536"/>
            <a:ext cx="10195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Kasniji, a stariji, odgovor može pokvariti noviji prikaz. Treba provera relevantnosti.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02920" y="6473952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programiranje   ·   Kontrolna soba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418320" y="6473952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20040"/>
            <a:ext cx="5806440" cy="5989320"/>
          </a:xfrm>
          <a:prstGeom prst="roundRect">
            <a:avLst>
              <a:gd name="adj" fmla="val 1575"/>
            </a:avLst>
          </a:prstGeom>
          <a:solidFill>
            <a:srgbClr val="10241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566928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40" kern="0" dirty="0">
                <a:solidFill>
                  <a:srgbClr val="C9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ČAS  09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96012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 sme da upravlja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28800"/>
            <a:ext cx="5212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3F7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Posmatrač nema dugme „Uključi”. Da li je time server zaštićen?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07492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E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Prvo izbor. Zatim razlog za svaku opciju.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D5E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Tačan odgovor je na sledećem slajdu.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355080" y="320040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4F7F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37960" y="466344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576072"/>
            <a:ext cx="4526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Jeste. Ko ne vidi dugme, ne može da pošalje komandu.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355080" y="1856232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4F7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37960" y="2002536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2112264"/>
            <a:ext cx="4526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Nije. Server mora sam da proveri ulogu na svakom zahtevu.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355080" y="3392424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4F7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37960" y="353872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3648456"/>
            <a:ext cx="4526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Ako JS sa drugog sajta ne pročita odgovor, server nije dostupan.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355080" y="4928616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4F7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37960" y="507492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040880" y="5184648"/>
            <a:ext cx="4526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 već dokazuje ko je korisnik, pa uloga nije potrebna.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6473952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programiranje   ·   Kontrolna soba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418320" y="6473952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C9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ČAS  09   ·   RAZLOZI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12064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721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 sme da upravlja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11292840" cy="1170432"/>
          </a:xfrm>
          <a:prstGeom prst="roundRect">
            <a:avLst>
              <a:gd name="adj" fmla="val 7813"/>
            </a:avLst>
          </a:prstGeom>
          <a:solidFill>
            <a:srgbClr val="F4F7F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1444752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43584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Nije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606040" y="1225296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Jeste. Ko ne vidi dugme, ne može da pošalje komandu.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591056"/>
            <a:ext cx="10195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Zahtev može da se pošalje mimo ekrana. Sakriveno dugme nije provera ovlašćenja.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11292840" cy="1170432"/>
          </a:xfrm>
          <a:prstGeom prst="roundRect">
            <a:avLst>
              <a:gd name="adj" fmla="val 7813"/>
            </a:avLst>
          </a:prstGeom>
          <a:solidFill>
            <a:srgbClr val="10241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" y="2724912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523744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Tačno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606040" y="2505456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Nije. Server mora sam da proveri ulogu na svakom zahtevu.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2871216"/>
            <a:ext cx="10195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5E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Ovlašćenje je odluka servera. Ekran može da sakrije komandu, ne može da je zabrani.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657600"/>
            <a:ext cx="11292840" cy="1170432"/>
          </a:xfrm>
          <a:prstGeom prst="roundRect">
            <a:avLst>
              <a:gd name="adj" fmla="val 7813"/>
            </a:avLst>
          </a:prstGeom>
          <a:solidFill>
            <a:srgbClr val="F4F7F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8368" y="4005072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803904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Nije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606040" y="3785616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Ako JS sa drugog sajta ne pročita odgovor, server nije dostupan.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4151376"/>
            <a:ext cx="10195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curl može dobiti isti odgovor. Browser brani čitanje; to nije dokaz da server ćuti.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4937760"/>
            <a:ext cx="11292840" cy="1170432"/>
          </a:xfrm>
          <a:prstGeom prst="roundRect">
            <a:avLst>
              <a:gd name="adj" fmla="val 7813"/>
            </a:avLst>
          </a:prstGeom>
          <a:solidFill>
            <a:srgbClr val="F4F7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5285232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5084064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Nije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2606040" y="5065776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 već dokazuje ko je korisnik, pa uloga nije potrebna.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5431536"/>
            <a:ext cx="10195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 ograničava čitanje u browseru. Nije autentifikacija i nije provera uloge.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02920" y="6473952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programiranje   ·   Kontrolna soba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418320" y="6473952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20040"/>
            <a:ext cx="5806440" cy="5989320"/>
          </a:xfrm>
          <a:prstGeom prst="roundRect">
            <a:avLst>
              <a:gd name="adj" fmla="val 1575"/>
            </a:avLst>
          </a:prstGeom>
          <a:solidFill>
            <a:srgbClr val="10241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566928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40" kern="0" dirty="0">
                <a:solidFill>
                  <a:srgbClr val="C9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ČAS  10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96012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Ceo sistem i šira slika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28800"/>
            <a:ext cx="5212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3F7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Ekran kaže „uključeno”. Odgovor na komandu nije stigao. Šta sme da se zaključi?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07492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E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Prvo izbor. Zatim razlog za svaku opciju.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D5E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Tačan odgovor je na sledećem slajdu.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355080" y="320040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4F7F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37960" y="466344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576072"/>
            <a:ext cx="4526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Upis nije prošao, pa komandu treba odmah ponoviti.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355080" y="1856232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4F7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37960" y="2002536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040880" y="2112264"/>
            <a:ext cx="4526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Upis jeste prošao, jer ekran već pokazuje uključeno.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355080" y="3392424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4F7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37960" y="353872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3648456"/>
            <a:ext cx="4526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znamo. Treba log i ponovno čitanje, pa odluka o ponavljanju.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355080" y="4928616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4F7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37960" y="507492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040880" y="5184648"/>
            <a:ext cx="4526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Ako kod prolazi TypeScript proveru ili ga je predložio AI, uloga je proverena.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6473952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programiranje   ·   Kontrolna soba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418320" y="6473952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C9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ČAS  10   ·   RAZLOZI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12064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721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Ceo sistem i šira slika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11292840" cy="1170432"/>
          </a:xfrm>
          <a:prstGeom prst="roundRect">
            <a:avLst>
              <a:gd name="adj" fmla="val 7813"/>
            </a:avLst>
          </a:prstGeom>
          <a:solidFill>
            <a:srgbClr val="F4F7F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1444752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43584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Nije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606040" y="1225296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Upis nije prošao, pa komandu treba odmah ponoviti.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591056"/>
            <a:ext cx="10195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Ćutanje ne dokazuje neuspeh upisa. Slepo ponavljanje može poništiti komandu koja jeste stigla.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11292840" cy="1170432"/>
          </a:xfrm>
          <a:prstGeom prst="roundRect">
            <a:avLst>
              <a:gd name="adj" fmla="val 7813"/>
            </a:avLst>
          </a:prstGeom>
          <a:solidFill>
            <a:srgbClr val="F4F7F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" y="2724912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523744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Nije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606040" y="2505456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Upis jeste prošao, jer ekran već pokazuje uključeno.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2871216"/>
            <a:ext cx="10195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Ekran može pokazati željeno stanje pre potvrde. Prikaz nije dokaz upisa.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657600"/>
            <a:ext cx="11292840" cy="1170432"/>
          </a:xfrm>
          <a:prstGeom prst="roundRect">
            <a:avLst>
              <a:gd name="adj" fmla="val 7813"/>
            </a:avLst>
          </a:prstGeom>
          <a:solidFill>
            <a:srgbClr val="10241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8368" y="4005072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8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803904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Tačno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606040" y="3785616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znamo. Treba log i ponovno čitanje, pa odluka o ponavljanju.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4151376"/>
            <a:ext cx="10195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5E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Odvajamo željeno, serversko i prikazano. Ponavljanje zavisi od toga da li komanda postavlja stanje ili ga prebacuje.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4937760"/>
            <a:ext cx="11292840" cy="1170432"/>
          </a:xfrm>
          <a:prstGeom prst="roundRect">
            <a:avLst>
              <a:gd name="adj" fmla="val 7813"/>
            </a:avLst>
          </a:prstGeom>
          <a:solidFill>
            <a:srgbClr val="F4F7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5285232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5084064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Nije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2606040" y="5065776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Ako kod prolazi TypeScript proveru ili ga je predložio AI, uloga je proverena.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5431536"/>
            <a:ext cx="10195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tip ni poreklo koda ne dokazuju da server proverava pravo operatera.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02920" y="6473952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programiranje   ·   Kontrolna soba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418320" y="6473952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02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344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60" kern="0" dirty="0">
                <a:solidFill>
                  <a:srgbClr val="C9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POSLE SVIH DESET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10972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Izostanak odgovora ne dokazuje</a:t>
            </a:r>
            <a:endParaRPr lang="en-US" sz="3800" dirty="0"/>
          </a:p>
          <a:p>
            <a:pPr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 upis nije izvršen.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794760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5E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Željeno stanje, serversko stanje i prikaz ostaju tri različite stvari.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D5E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Ponavljanje komande zavisi od njenog značenja, ne od toga što ekran ćuti.</a:t>
            </a:r>
            <a:endParaRPr lang="en-US" sz="2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721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Šta ostaje mapa, ne vežba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Kratak osvrt: koji problem rešava i kada postaje važan.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11183112" cy="1024128"/>
          </a:xfrm>
          <a:prstGeom prst="roundRect">
            <a:avLst>
              <a:gd name="adj" fmla="val 8929"/>
            </a:avLst>
          </a:prstGeom>
          <a:solidFill>
            <a:srgbClr val="F4F7F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76479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Prikaz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3017520" y="1709928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React, Next.js, SSR i SPA. Komponenta se pominje kao razlog, ne kao zadatak.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" y="2651760"/>
            <a:ext cx="11183112" cy="1024128"/>
          </a:xfrm>
          <a:prstGeom prst="roundRect">
            <a:avLst>
              <a:gd name="adj" fmla="val 8929"/>
            </a:avLst>
          </a:prstGeom>
          <a:solidFill>
            <a:srgbClr val="F4F7F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90779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Server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3017520" y="2852928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Express, GraphQL, Kubernetes, cloud. Jedan proces i jedan log dolaze pre toga.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02920" y="3794760"/>
            <a:ext cx="11183112" cy="1024128"/>
          </a:xfrm>
          <a:prstGeom prst="roundRect">
            <a:avLst>
              <a:gd name="adj" fmla="val 8929"/>
            </a:avLst>
          </a:prstGeom>
          <a:solidFill>
            <a:srgbClr val="F4F7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405079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Jezik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017520" y="3995928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Napredni TypeScript, microtask kviz i closure sa tajmerom ostaju van obima.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02920" y="4937760"/>
            <a:ext cx="11183112" cy="1024128"/>
          </a:xfrm>
          <a:prstGeom prst="roundRect">
            <a:avLst>
              <a:gd name="adj" fmla="val 8929"/>
            </a:avLst>
          </a:prstGeom>
          <a:solidFill>
            <a:srgbClr val="F4F7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519379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F6B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Poverenje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3017520" y="5138928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721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CORS, sesije i blockchain. Cilj je razlikovati probleme, ne graditi login ili konsenzus.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6473952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programiranje   ·   Kontrolna soba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418320" y="6473952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4E5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Kontrolna soba — pregled kursa</dc:title>
  <dc:subject>Deset predavanja: problem, odgovori, razlozi</dc:subject>
  <dc:creator>Web programiranje</dc:creator>
  <cp:lastModifiedBy>Web programiranje</cp:lastModifiedBy>
  <cp:revision>1</cp:revision>
  <dcterms:created xsi:type="dcterms:W3CDTF">2026-10-16T19:51:16Z</dcterms:created>
  <dcterms:modified xsi:type="dcterms:W3CDTF">2026-10-16T19:51:16Z</dcterms:modified>
</cp:coreProperties>
</file>
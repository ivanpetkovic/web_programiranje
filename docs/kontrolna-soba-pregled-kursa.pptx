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36"/>
    <p:sldId id="263" r:id="rId9"/>
    <p:sldId id="264" r:id="rId10"/>
    <p:sldId id="286" r:id="rId37"/>
    <p:sldId id="265" r:id="rId11"/>
    <p:sldId id="266" r:id="rId12"/>
    <p:sldId id="287" r:id="rId38"/>
    <p:sldId id="267" r:id="rId13"/>
    <p:sldId id="268" r:id="rId14"/>
    <p:sldId id="288" r:id="rId39"/>
    <p:sldId id="269" r:id="rId15"/>
    <p:sldId id="270" r:id="rId16"/>
    <p:sldId id="289" r:id="rId40"/>
    <p:sldId id="271" r:id="rId17"/>
    <p:sldId id="272" r:id="rId18"/>
    <p:sldId id="290" r:id="rId41"/>
    <p:sldId id="273" r:id="rId19"/>
    <p:sldId id="274" r:id="rId20"/>
    <p:sldId id="291" r:id="rId42"/>
    <p:sldId id="275" r:id="rId21"/>
    <p:sldId id="276" r:id="rId22"/>
    <p:sldId id="292" r:id="rId43"/>
    <p:sldId id="277" r:id="rId23"/>
    <p:sldId id="278" r:id="rId24"/>
    <p:sldId id="293" r:id="rId44"/>
    <p:sldId id="279" r:id="rId25"/>
    <p:sldId id="280" r:id="rId26"/>
    <p:sldId id="294" r:id="rId45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1.xml"/><Relationship Id="rId18" Type="http://schemas.openxmlformats.org/officeDocument/2006/relationships/slide" Target="slides/slide22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30.xml"/><Relationship Id="rId24" Type="http://schemas.openxmlformats.org/officeDocument/2006/relationships/slide" Target="slides/slide31.xml"/><Relationship Id="rId25" Type="http://schemas.openxmlformats.org/officeDocument/2006/relationships/slide" Target="slides/slide33.xml"/><Relationship Id="rId26" Type="http://schemas.openxmlformats.org/officeDocument/2006/relationships/slide" Target="slides/slide34.xml"/><Relationship Id="rId27" Type="http://schemas.openxmlformats.org/officeDocument/2006/relationships/slide" Target="slides/slide36.xml"/><Relationship Id="rId28" Type="http://schemas.openxmlformats.org/officeDocument/2006/relationships/slide" Target="slides/slide37.xml"/><Relationship Id="rId29" Type="http://schemas.openxmlformats.org/officeDocument/2006/relationships/slide" Target="slides/slide38.xml"/><Relationship Id="rId30" Type="http://schemas.openxmlformats.org/officeDocument/2006/relationships/slide" Target="slides/slide3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Relationship Id="rId37" Type="http://schemas.openxmlformats.org/officeDocument/2006/relationships/slide" Target="slides/slide11.xml"/><Relationship Id="rId38" Type="http://schemas.openxmlformats.org/officeDocument/2006/relationships/slide" Target="slides/slide14.xml"/><Relationship Id="rId39" Type="http://schemas.openxmlformats.org/officeDocument/2006/relationships/slide" Target="slides/slide17.xml"/><Relationship Id="rId40" Type="http://schemas.openxmlformats.org/officeDocument/2006/relationships/slide" Target="slides/slide20.xml"/><Relationship Id="rId41" Type="http://schemas.openxmlformats.org/officeDocument/2006/relationships/slide" Target="slides/slide23.xml"/><Relationship Id="rId42" Type="http://schemas.openxmlformats.org/officeDocument/2006/relationships/slide" Target="slides/slide26.xml"/><Relationship Id="rId43" Type="http://schemas.openxmlformats.org/officeDocument/2006/relationships/slide" Target="slides/slide29.xml"/><Relationship Id="rId44" Type="http://schemas.openxmlformats.org/officeDocument/2006/relationships/slide" Target="slides/slide32.xml"/><Relationship Id="rId45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 odgovora ne otkrivati koja je opcija tačna. Sledeći slajd časa je za posle diskusije.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prelaziti na slajd sa razlozima dok studenti ne obrazlože više od jedne opcije.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C. Promenjen je samo prikaz. Ekran nije sam po sebi stanje staklenika.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room.temperature sme da se promeni. panel gleda isti objekat, pa vidi istu vrednost.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Klik zove sačuvanu funkciju. update prosleđuje funkciju; update() je zove odmah i predaje rezultat.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Server odgovara. Browser prima odgovor i tek onda menja sopstveni prikaz.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500 nije uspešna operacija, ali jeste HTTP odgovor. Status i ok odvajaju taj slučaj od uspeha.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Oba puta želimo uključeno. To ne garantuje jedan zapis u logu ni jednu isporuku.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Dva upita nisu sami po sebi atomski. Rollback ili oba uspeju. Restart Node-a to ne spaja.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Treba vreme merenja i jasan prikaz da je podatak zastareo ili nedostupan.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B. Ovlašćenje je odluka servera. Ekran može da sakrije komandu, ne može da je zabrani.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otkrivati tačnu opciju. Tražiti obrazloženje i za opcije koje grupa odbaci.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Tačno je C. Odvajamo željeno, serversko i prikazano. Ponavljanje zavisi od toga da li komanda postavlja stanje ili ga prebacuje.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Internet, Web, browser, server, URL, zahtev, odgovor, dokument, prikaz, merenje.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Internet je mreža mreža. Web je jedna usluga na njoj. E-pošta nije Web.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Dokument, prikaz i merenje su tri stvari. Ekran nije sam po sebi temperatura prostorije.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element, atribut i selektor. U fajlu panela, ne na slajdu.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&lt;p id="temp"&gt;24 °C&lt;/p&gt;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#temp { font-size: 2rem; }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p je element, id je atribut, 24 °C je tekst. Selektor #temp bira taj element.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Box model otvoriti u alatima browsera: sadržaj, padding, ivica, margina. To ne kucati.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vrednost i tip, let, operatori, ===, uslov, for, parametar, povratna vrednost, niz.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To su poznata imena. for i uslov imaju isti oblik kao u jeziku koji već znaju.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Desna kolona jeste teža. Kucati u Node konzoli, jedan blok pa stanka.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const i polje objekta.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room = { temperature: 24, fanOn: false };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room.temperature = 22;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console.log(room.temperature);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room = {};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izmena polja prolazi. Nova dodela imena ne prolazi. const nije zamrzavanje objekta.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drugo ime. room iz prethodnog bloka i dalje postoji.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panel = room;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room.fanOn = true;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console.log(panel.fanOn);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panel vidi true. Drugo ime nije kopija.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dodela nije isto što i poziv.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nextStep(state)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 state.temperature + 1;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korak = nextStep;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console.log(korak);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console.log(korak(room));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korak bez zagrada samo pokazuje funkciju. Zagrada je poziv. Dodela nije poziv.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obična funkcija je već nextStep. Arrow je drugi zapis iste ideje.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nextArrow = (state) =&gt; state.temperature + 1;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console.log(nextArrow(room));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ulaz i izlaz su isti. Razliku this ne otvarati na ovom času.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leksički scope.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limit = 28;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tooWarm(temperature)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 temperature &gt; limit;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console.log(tooWarm(22));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console.log(tooWarm(30));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tooWarm vidi limit sa mesta na kom je napisana. Prvi poziv je false, drugi true.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DOM, forma, preventDefault, Flexbox, Grid, stanje, prikaz.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Flexbox ili Grid samo kao ime rasporeda panela. Ne crtati mrežu na slajdu.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Dodela i poziv su već kucani prošli čas. Sada ista razlika, pa closure.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prvo bez događaja, u Node konzoli. Zagrada zove odmah.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update()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console.log("sada");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sacuvana = update;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console.log(sacuvana);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update();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sacuvana bez zagrada je funkcija za kasnije. update() radi odmah i predaje rezultat, ne funkciju.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Listener dobija sacuvana, ne update().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prikaz. U konzoli browsera, na pripremljenom panelu koji ima id temp.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document.querySelector("#temp").textContent = "22 °C";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ovo menja tekst. Samo menjanje polja objekta ovaj tekst ne dira.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funkcija koja vraća funkciju. Closure, sinhrono, bez tajmera.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makeStep(state)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 function 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state.temperature += 1;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return state.temperature;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};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room = { temperature: 24 };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step = makeStep(room);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console.log(step());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console.log(step());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console.log(room.temperature);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step i dalje vidi state. Dva poziva daju 25 pa 26. Tajmer ne uvoditi.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proces, port, metod, putanja, zaglavlje, telo, status, Content-Type, 404, niko na portu.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putanja koje nema može dati 404. Ugašen port ne da HTTP odgovor tog servera.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Node i browser nemaju isti API. document na serveru ne postoji.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JSON tekst nije objekat. Node konzola.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text = '{"temperature":24}';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console.log(text.temperature);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data = JSON.parse(text);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console.log(data.temperature);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na tekstu polje ne postoji. Posle parse dobijamo objekat i 24.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mali server, u fajlu server.mjs, ako pripremljeni fajl još nije otvoren. Zatim node server.mjs i adresa localhost:3000.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import http from "node:http";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const server = http.createServer((req, res) =&gt;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res.statusCode = 200;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res.setHeader("Content-Type", "application/json; charset=utf-8");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res.end(JSON.stringify({ temperature: 24, fanOn: false }));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server.listen(3000);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handler vraća tekst. Dugme na stranici ovde ne postoji. Browser taj tekst tek kasnije prikaže.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sinhroni redosled, callback tajmera, Promise, async, await, try i catch, kao imena.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Promise je budući ishod. await čeka tu funkciju, ne ceo browser.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u konzoli browsera, na pripremljenoj stranici časa. Prvo server koji vraća 500. Zatim, ako ostane vremena, ugašen server.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async function loadRoom()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try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const response = await fetch("/api/room");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if (!response.ok)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  console.log("odgovor postoji", response.status);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  return;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console.log("podatak", await response.json());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} catch (error)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console.log("odgovora nema");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loadRoom();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500 ulazi u if, ne u catch. Odgovor jeste stigao. Ugašen server ulazi u catch.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Dok se čeka, drugo dugme i dalje prima klik. To pokazati na stranici, ne novim slajdom.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imena metoda, statusa, resursa, serijalizacije.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GET čita. PUT na ovoj komandi postavlja željeno stanje. Telo može stići u delovima; pripremljeni kod to već radi, ne pisati čitač tela uživo.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postaviti i promeniti. Node konzola. Ovo je teža razlika časa.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toggle(enabled)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 !enabled;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turnOn()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 true;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console.log(toggle(true));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console.log(turnOn());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console.log(toggle(true));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console.log(turnOn());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toggle drugi put vraća false. turnOn drugi put i dalje vraća true. Isti željeni efekat nije ista isporuka ni jedan red u logu.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telo PUT zahteva. Konzola browsera, ako je stranica već otvorena.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await fetch("/api/devices/fan/state",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method: "PUT",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headers: { "Content-Type": "application/json" },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body: JSON.stringify({ enabled: true }),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stringify pravi tekst. Server parsira tekst. UI nije jedini mogući pošiljalac ovog tela.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proces baze, veza, konfiguracija, drajver, image, container, port, volume.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restart Node procesa ne briše bazu. Uklanjanje kontejnera nije samo po sebi brisanje volume-a.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Memorija servera i trajni upis nisu isto.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parametrizovan upit. U psql, ne na slajdu. Vrednost ide kao parametar, ne u tekst.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UPDATE device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SET enabled = $1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WHERE name = $2;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transakcija. Dva upita su jedna celina tek unutar nje.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BEGIN;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UPDATE device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SET enabled = true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WHERE name = 'fan';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INSERT INTO command_log (name, enabled)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VALUES ('fan', true);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COMMIT;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bez BEGIN i COMMIT jedan upit može proći, a drugi ne. ROLLBACK skida oba ako su u istoj transakciji i drugi padne. Browser ne dobija kredencijale ove baze.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vreme očitavanja, poslednje poznato, trenutno stanje, kopija, keš, svežina, polling kao ime.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broj na ekranu bez starosti nije sadašnja temperatura. Keš nije sam po sebi greška. Ikonica i temperatura ne moraju isti rok.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kasni stariji odgovor ne sme da crta. Node konzola. Sačekati ispis.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let latest = 0;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render(room)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console.log("crtam", room.temperature);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async function loadRoom()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await new Promise((resolve) =&gt; setTimeout(resolve, 300));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 { temperature: 24 };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async function showRoom()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const mine = ++latest;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const room = await loadRoom();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if (mine !== latest)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console.log("kasnim, ne crtam", mine);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return;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render(room);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showRoom();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showRoom();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drugi poziv krene pre nego što prvi završi. Prvi više nije latest, pa ne crta. Potreban je podatak o relevantnosti, ne samo to što je odgovor sa servera.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autentifikacija, autorizacija, cookie, sesija, origin, CORS.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origin je šema, host i port. CORS ograničava čitanje u browseru. Nije prijava i nije uloga.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curl može dobiti odgovor koji stranica ne sme da pročita. Sakriveno dugme nije provera.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uloga na serveru. U fajlu handlera, na svakom zahtevu.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if (session.role !== "operator")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res.statusCode = 403;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res.end();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ovo stoji na serveru. Posmatrač bez dugmeta i dalje može poslati isti zahtev. Provera je odluka servera, ne raspored na ekranu.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Slajd za publiku nema primera.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Teži kod je ovde, za kucanje. Ne prepisivati ga na slajd.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Leva kolona, pa desna. Kod kucati tek na označenom mestu, pa sačekati šta grupa očekuje.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NE KUCATI: put komande, konfiguracija, adresa, log, tri stanja.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željeno, serversko i prikazano ostaju tri stvari. Ćutanje odgovora ne dokazuje da upis nije prošao.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Ponavljanje zavisi od toga da li komanda postavlja stanje ili ga prebacuje.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anotacija i provera uloge. U editoru, fajl sa tipom. Posle prvog bloka pokazati da oblik ne proverava ulogu.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type FanCommand = { enabled: boolean };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function apply(command: FanCommand, role: string)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if (role !== "operator") 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  return { ok: false };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  return { ok: true, enabled: command.enabled };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KUCATI — ovo statička provera odbija. Uloga se time ne dotiče.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7211C"/>
                </a:solidFill>
                <a:latin typeface="Courier New"/>
              </a:rPr>
              <a:t>apply({ enabled: "yes" }, "operator");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Reći: enabled mora biti boolean. Ako se if sa ulogom obriše, tip i dalje prolazi.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Ni tip ni predlog iz alata ne dokazuju da server proverava operatera.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7211C"/>
                </a:solidFill>
                <a:latin typeface="Calibri"/>
              </a:rPr>
              <a:t>Sledeći slajd je pitalica. Ne otkrivati tačnu opciju.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PREDAVANJA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Kontrolna soba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čas počinje problemom. Studenti biraju odgovor,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se svaki odgovor razloži.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17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85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4617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5285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4617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5285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144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student treba da ume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Predznanje: OOP, algoritmi i SQL. JavaScript specifičnosti uvode se izričito.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58952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1762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akcije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70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klika u browseru, preko Node zahteva, do upita u bazi.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565392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65392" y="21762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Prikaz i stanje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670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nije merodavno stanje staklenika.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58952" y="3995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44165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Greška i ponavljanje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49103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Mrežni krah, HTTP status i ponovljena komanda nisu ista stvar.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5532120" cy="2011680"/>
          </a:xfrm>
          <a:prstGeom prst="roundRect">
            <a:avLst>
              <a:gd name="adj" fmla="val 4545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65392" y="3995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44165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Granica poverenja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49103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šalje zahtev, ko sme da menja ventilator, šta provera zaista dokazuje.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Kako počinje čas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je na stolu pre termina i pre tačnog odgovora.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315468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03504" y="157276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1214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88036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situacija iz Kontrolne sobe.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95728" y="1417320"/>
            <a:ext cx="1828800" cy="315468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542032" y="157276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21214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Odgovori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288036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Nekoliko opcija, bez označene tačne.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4256" y="1417320"/>
            <a:ext cx="1828800" cy="315468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480560" y="157276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214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Diskusija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036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opcija dobija razlog za i protiv.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2784" y="1417320"/>
            <a:ext cx="1828800" cy="3154680"/>
          </a:xfrm>
          <a:prstGeom prst="roundRect">
            <a:avLst>
              <a:gd name="adj" fmla="val 5000"/>
            </a:avLst>
          </a:prstGeom>
          <a:solidFill>
            <a:srgbClr val="F8F1E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19088" y="157276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21214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Zašto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88036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tada tačan odgovor i obrazloženje.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11312" y="1417320"/>
            <a:ext cx="1828800" cy="315468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357616" y="157276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21214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288036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Pripremljen isečak koji proverava zaključak.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49840" y="1417320"/>
            <a:ext cx="1828800" cy="3154680"/>
          </a:xfrm>
          <a:prstGeom prst="roundRect">
            <a:avLst>
              <a:gd name="adj" fmla="val 5000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0296144" y="157276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0296144" y="212140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Jedna promena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296144" y="288036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problem, drugi uslov.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773168"/>
            <a:ext cx="11265408" cy="1417320"/>
          </a:xfrm>
          <a:prstGeom prst="roundRect">
            <a:avLst>
              <a:gd name="adj" fmla="val 6452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13232" y="50109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min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074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 vreme da grupa izabere, uporedi razloge i čuje zašto je svaka opcija tačna, pogrešna ili nedovoljna.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37960" y="38404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Jedan primer kroz ceo kurs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37960" y="16002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Simulirani staklenik. Nema hardvera, fizike ni bodovanja. Počinje sa jednim očitavanjem i jednim ventilatorom.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53796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Kasnije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 očitavanja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upozorenja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4434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istorija komandi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5212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kraju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posmatrač i operater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"/>
            <a:ext cx="5669280" cy="5806440"/>
          </a:xfrm>
          <a:prstGeom prst="roundRect">
            <a:avLst>
              <a:gd name="adj" fmla="val 16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" y="685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9B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STAKLENIK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2344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24°C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Poslednje očitavanje  ·  sada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97180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17352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456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isključen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25196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2F6B4F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44074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Sledeći korak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Simulacija ide dugmetom. Automatika dolazi tek sa asinhronošću.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Čime se primer pravi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 pominje zbog svrhe. U primeru se ne koristi.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58952" y="17830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7F2EB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58952" y="18288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vanilla JS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749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i fetch. Prikaz se ažurira eksplicitno.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937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ostaje mapa, ne alat časa.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99432" y="17830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7F2EB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599432" y="18288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modul http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749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Nekoliko ruta, bez Express-a. Handler je vidljiv.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4937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se objašnjava kao organizacija.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83880" y="1508760"/>
            <a:ext cx="3611880" cy="4617720"/>
          </a:xfrm>
          <a:prstGeom prst="roundRect">
            <a:avLst>
              <a:gd name="adj" fmla="val 253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439912" y="17830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7F2EB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439912" y="18288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Baza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439912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 Dockeru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39912" y="3749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Parametrizovan SQL. Studenti SQL već znaju.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39912" y="4937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kursa administracije baze.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NEDELJE 1–5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časova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13232" y="149961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3898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browser prikazuje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1907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alatima browsera 24°C postane 10°C. Šta smo time promenili?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13232" y="248716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3774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opisuje stanje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70662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je const i drži objekat. panel pokazuje na isti objekat. Šta sme, i šta panel vidi?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255264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13232" y="3474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36499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Događaji povezuju korisnika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na „Sledeći korak” treba da promeni broj na stranici. Šta je dovoljno?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13232" y="446227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35254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zahtev i Node server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68172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handler hoće da ugasi dugme na stranici. Šta on zapravo može?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230368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13232" y="54498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34009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Čekanje i neuspeh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66928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temperature dobije HTTP 500. Šta iz toga sledi?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NEDELJE 6–10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časova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13232" y="149961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3898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Komande i ponavljanje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1907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 komanda ventilatoru može da stigne dvaput. Šta je bezbedno ponoviti?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13232" y="248716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37744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Trajno stanje i Docker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70662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Stanje ventilatora je upisano, istorija komande nije. Da li je evidencija pouzdana?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255264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13232" y="3474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36499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Koliko je prikaz svež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panelu piše 24 °C. Očitavanje je staro deset minuta. Šta znamo?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13232" y="446227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35254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sme da upravlja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68172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Posmatrač nema dugme „Uključi”. Da li je time server zaštićen?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230368"/>
            <a:ext cx="11183112" cy="877824"/>
          </a:xfrm>
          <a:prstGeom prst="roundRect">
            <a:avLst>
              <a:gd name="adj" fmla="val 10417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13232" y="54498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34009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sistem i šira slika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66928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kaže „uključeno”. Odgovor na komandu nije stigao. Šta sme da se zaključi?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01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Šta browser prikazuje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MREŽA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Internet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5714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2125714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2125714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91428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2791428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2791428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57142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457142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457142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22856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4122856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4122856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88570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4788570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4788570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Zahtev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54284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920" y="5454284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920" y="5454284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Odgovor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STRANICA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5847" y="1460000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5847" y="1460000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5847" y="1460000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HTML element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847" y="2125714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5847" y="2125714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5847" y="2125714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Atribut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2791428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2791428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2791428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CSS selektor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3457142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3457142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3457142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Box model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4122856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4122856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4122856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Dokument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847" y="4788570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5847" y="4788570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5847" y="4788570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Prikaz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5847" y="5454284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5847" y="5454284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5847" y="5454284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Merenje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put od URL-a, semantički HTML, pristupačnost, Figma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browser prikazuje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alatima browsera 24°C postane 10°C. Šta smo time promenili?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Temperaturu u stakleniku.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dokument koji stoji na serveru.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Lokalni prikaz u ovom browseru.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merenje i server, jer ekran jeste stanje sistema.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01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browser prikazuje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Temperaturu u stakleniku.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 i merenje nismo dirali. Broj na ekranu nije nova temperatura prostorije.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dokument koji stoji na serveru.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zahteva koji menja dokument. Osvežavanje može vratiti prvobitnih 24 °C.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Lokalni prikaz u ovom browseru.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Promenjen je samo prikaz. Ekran nije sam po sebi stanje staklenika.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merenje i server, jer ekran jeste stanje sistema.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Prikaz, dokument i merenje su tri različite stvari. Izmena u alatima dira samo prvu.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02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JavaScript opisuje stanje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ZAPIS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Vrednost i tip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77777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1977777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1977777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95554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2495554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2495554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const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3331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013331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013331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Operatori i ===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31108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3531108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3531108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Uslov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48885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4048885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4048885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for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66662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920" y="4566662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920" y="4566662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Funkcija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84439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920" y="5084439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920" y="5084439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Parametar i povratna vrednost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02216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920" y="5602216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2920" y="5602216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Objekat i niz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RAZLIKE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1460000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1460000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1460000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const brani novu dodelu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1977777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1977777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1977777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Polje objekta sme da se menja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2495554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2495554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2495554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Drugo ime nije kopija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847" y="3013331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5847" y="3013331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5847" y="3013331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Funkcija je vrednost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5847" y="3531108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5847" y="3531108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5847" y="3531108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Dodela nije isto što i poziv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5847" y="4048885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5847" y="4048885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5847" y="4048885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Obična funkcija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5847" y="4566662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5847" y="4566662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5847" y="4566662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Arrow funkcija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95847" y="5084439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5847" y="5084439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5847" y="5084439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Leksički scope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dinamički tip, mesto provere tipova, JS okruženje, Git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opisuje stanje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je const i drži objekat. panel pokazuje na isti objekat. Šta sme, i šta panel vidi?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Ništa: const zamrzava objekat, a panel ima svoju kopiju.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 sme da se menja. panel vidi istu izmenu.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 sme samo ako const zamenimo sa let.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 sme, ali panel ne vidi izmenu.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02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opisuje stanje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Ništa: const zamrzava objekat, a panel ima svoju kopiju.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brani novu dodelu imena, ne polje. Drugo ime ne pravi kopiju objekta.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 sme da se menja. panel vidi istu izmenu.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room.temperature sme da se promeni. panel gleda isti objekat, pa vidi istu vrednost.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 sme samo ako const zamenimo sa let.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 const se razlikuju po ponovnoj dodeli imena, ne po izmeni polja.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Polje sme, ali panel ne vidi izmenu.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imena mogu pokazivati na jedan objekat. Izmena kroz jedno vidi se kroz drugo.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03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Događaji povezuju korisnika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STRANICA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DOM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4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204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204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querySelector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2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262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262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textContent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7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207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207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addEventListener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379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379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Callback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7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437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437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Forma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5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920" y="495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920" y="495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preventDefault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37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920" y="5537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920" y="5537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Flexbox i Grid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FUNKCIJA I PRIKAZ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847" y="146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5847" y="146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5847" y="146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Listener dobija funkciju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204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204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204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Poziv sa zagradama je odmah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262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262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262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Funkcija koja vraća funkciju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3207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3207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3207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Closure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847" y="379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5847" y="379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5847" y="379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Stanje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5847" y="437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5847" y="437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5847" y="437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Prikaz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5847" y="495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5847" y="495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5847" y="495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Prikaz traži poseban kod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responsive, prototip i this, komponenta, React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Događaji povezuju korisnika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Klik na „Sledeći korak” treba da promeni broj na stranici. Šta je dovoljno?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Dovoljno je promeniti polje objekta. Stranica sama prati objekat.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menja stanje, a drugi kod zatim crta prikaz. Listener dobija funkciju.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addEventListener('click', update()) znači: pozovi update na klik.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Dovoljno je da objekat bude u const. Browser ga tada crta sam.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03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Događaji povezuju korisnika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Dovoljno je promeniti polje objekta. Stranica sama prati objekat.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ovom primeru objekat ne obnavlja DOM. Treba kod koji posebno menja tekst.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menja stanje, a drugi kod zatim crta prikaz. Listener dobija funkciju.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zove sačuvanu funkciju. update prosleđuje funkciju; update() je zove odmah i predaje rezultat.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addEventListener('click', update()) znači: pozovi update na klik.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Zagrade su poziv odmah, pre klika. Listener dobije povratnu vrednost, ne funkciju.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Dovoljno je da objekat bude u const. Browser ga tada crta sam.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ne povezuje objekat sa stranicom. Prikaz i dalje traži eksplicitan kod.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04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HTTP zahtev i Node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ZAHTEV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Proces servera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4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204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204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2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262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262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7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207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207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Metod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379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379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Putanja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7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437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437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Zaglavlje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5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920" y="495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920" y="495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Telo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ODGOVOR I GRANICA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5847" y="146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5847" y="146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5847" y="146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847" y="204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5847" y="204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5847" y="204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Content-Type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262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262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262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JSON tekst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3207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3207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3207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JS objekat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3790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3790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3790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Node 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847" y="4372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5847" y="4372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5847" y="4372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Browser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5847" y="49550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5847" y="49550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5847" y="49550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404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5847" y="5537500"/>
            <a:ext cx="5492927" cy="5225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5847" y="5537500"/>
            <a:ext cx="520000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5847" y="5537500"/>
            <a:ext cx="4752927" cy="52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Niko na portu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TCP i TLS, verzije HTTP-a, GraphQL, Express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zahtev i Node server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handler hoće da ugasi dugme na stranici. Šta on zapravo može?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pozove document.querySelector, jer vidi isti dokument.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vrati podatke ili dokument. Dugme menja browser kad obradi odgovor.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Nepostojeća putanja i ugašen port su ista greška: oba su 404.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menja DOM ako je zahtev došao iz ovog browsera.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04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zahtev i Node server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pozove document.querySelector, jer vidi isti dokument.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pripada browseru. U Node procesu tog dokumenta nema.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vrati podatke ili dokument. Dugme menja browser kad obradi odgovor.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odgovara. Browser prima odgovor i tek onda menja sopstveni prikaz.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Nepostojeća putanja i ugašen port su ista greška: oba su 404.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Putanja koje nema može dati 404. Na ugašenom portu nema HTTP odgovora tog servera.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menja DOM ako je zahtev došao iz ovog browsera.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Poreklo zahteva ne premešta DOM na server. Odgovor i dalje ide nazad u browser.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05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Čekanje i neuspeh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ČEKANJE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Sinhroni redosled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36666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2236666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2236666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Callback tajmera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3332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3013332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3013332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Promise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89998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789998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789998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66664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4566664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4566664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await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4333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534333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534333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try i catch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ISHOD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5847" y="146000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5847" y="146000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5847" y="146000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fetch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5847" y="2236666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5847" y="2236666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5847" y="2236666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response.ok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847" y="3013332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5847" y="3013332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5847" y="3013332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HTTP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3789998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3789998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3789998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Mrežni krah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4566664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4566664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4566664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Greška čitanja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534333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534333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534333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await ne zaustavlja browser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timeout, Promise.all, event loop, konkurentnost i paralelizam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Čekanje i neuspeh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temperature dobije HTTP 500. Šta iz toga sledi?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 catch: 500 je greška, dakle izuzetak.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 postoji. Uspeh proveravamo preko statusa i response.ok.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je kao ugašen server: odgovora nema.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zaustavlja browser, pa drugi klik mora da sačeka.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05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Čekanje i neuspeh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 catch: 500 je greška, dakle izuzetak.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 je stigao. catch ovde pripada mrežnom krahu ili grešci čitanja, ne samom statusu.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 postoji. Uspeh proveravamo preko statusa i response.ok.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nije uspešna operacija, ali jeste HTTP odgovor. Status i ok odvajaju taj slučaj od uspeha.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je kao ugašen server: odgovora nema.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Ugašen server ne pošalje ovaj odgovor. 500 je odgovor sa statusom neuspeha.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zaustavlja browser, pa drugi klik mora da sačeka.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zaustavlja tu funkciju, ne ceo browser. Drugi događaj i dalje može da se desi.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06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Komande i ponavljanje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ZAHTEV KOJI MENJA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Telo zahteva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77777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1977777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1977777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Telo u delovima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95554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2495554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2495554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Serijalizacija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3331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013331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013331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Parsiranje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31108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3531108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3531108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Resurs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48885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4048885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4048885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66662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920" y="4566662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920" y="4566662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84439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920" y="5084439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920" y="5084439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02216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920" y="5602216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2920" y="5602216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PONAVLJANJE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1460000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1460000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1460000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200 i 204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1977777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1977777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1977777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400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2495554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2495554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2495554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404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847" y="3013331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5847" y="3013331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5847" y="3013331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Postaviti stanje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5847" y="3531108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5847" y="3531108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5847" y="3531108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Promeniti stanje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5847" y="4048885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5847" y="4048885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5847" y="4048885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Idempotentnost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REST, stateless, optimistički prikaz, potvrda uređaja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Komande i ponavljanje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Ista komanda ventilatoru može da stigne dvaput. Šta je bezbedno ponoviti?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„Promeni stanje”: drugi put vraća na staro, pa je bezbednija.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„Postavi na uključeno”: drugi put ostavlja isti željeni efekat.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nudi samo dve vrednosti, pa server ne može dobiti ništa drugo.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komanda sa statusom 200 sme da se ponovi bez posledica.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06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Komande i ponavljanje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„Promeni stanje”: drugi put vraća na staro, pa je bezbednija.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Drugi put može poništiti efekat prvog. Ponavljanje menja ishod.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„Postavi na uključeno”: drugi put ostavlja isti željeni efekat.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puta želimo uključeno. To ne garantuje jedan zapis u logu ni jednu isporuku.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nudi samo dve vrednosti, pa server ne može dobiti ništa drugo.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Zahtev može doći mimo ekrana. Server proverava telo koje je stvarno stiglo.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komanda sa statusom 200 sme da se ponovi bez posledica.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kaže da je odgovor stigao. Ne kaže da ponavljanje ima isti efekat na stanje.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07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Trajno stanje i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BAZA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Proces baze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77777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1977777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1977777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Veza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95554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2495554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2495554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Konfiguracija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3331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013331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013331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Drajver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31108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3531108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3531108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Parametrizovan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48885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4048885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4048885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Trajnost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66662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920" y="4566662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920" y="4566662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Memorija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84439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920" y="5084439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920" y="5084439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Transakcija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02216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920" y="5602216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2920" y="5602216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Rollback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DOCKER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1460000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1460000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1460000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Image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1977777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1977777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1977777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Container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2495554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2495554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2495554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5847" y="3013331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5847" y="3013331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5847" y="3013331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Volume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5847" y="3531108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5847" y="3531108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5847" y="3531108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Restart procesa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5847" y="4048885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5847" y="4048885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5847" y="4048885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Uklanjanje kontejnera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5847" y="4566662"/>
            <a:ext cx="5492927" cy="457777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5847" y="4566662"/>
            <a:ext cx="520000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41A"/>
                </a:solidFill>
                <a:latin typeface="Calibri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5847" y="4566662"/>
            <a:ext cx="4752927" cy="457777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11C"/>
                </a:solidFill>
                <a:latin typeface="Calibri"/>
              </a:rPr>
              <a:t>Uklanjanje skladišta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relaciono i dokumentno, MongoDB, virtuelna mašina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Trajno stanje i Docker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Stanje ventilatora je upisano, istorija komande nije. Da li je evidencija pouzdana?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Jeste: bitno stanje jeste sačuvano, istorija je sporedna.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Nije, dok oba upisa nisu jedna celina. Zato postoji transakcija.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treba kredencijale baze da sam proveri istoriju.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kontejner sam čuva oba upisa, i bez transakcije.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07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Trajno stanje i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Jeste: bitno stanje jeste sačuvano, istorija je sporedna.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Povezane promene gledamo zajedno. Stanje bez istorije je rascep, ne cela evidencija.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Nije, dok oba upisa nisu jedna celina. Zato postoji transakcija.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upita nisu sami po sebi atomski. Rollback ili oba uspeju. Restart Node-a to ne spaja.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treba kredencijale baze da sam proveri istoriju.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Javni klijent ne čuva serversku tajnu. Server posreduje i proverava prava.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kontejner sam čuva oba upisa, i bez transakcije.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Kontejner nije ni transakcija ni sam po sebi trajno skladište. Trajnost zavisi od mesta čuvanja.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08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Koliko je prikaz svež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SVEŽINA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Vreme očitavanja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36666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2236666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2236666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Poslednje poznato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3332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3013332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3013332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Trenutno stanje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89998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789998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789998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Kopija stanja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66664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4566664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4566664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Keš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4333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534333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534333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Svežina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REDOSLED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5847" y="146000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5847" y="146000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5847" y="146000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Periodično učitavanje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5847" y="2236666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5847" y="2236666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5847" y="2236666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Redosled slanja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847" y="3013332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5847" y="3013332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5847" y="3013332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Redosled završavanja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3789998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3789998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3789998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Kasni stariji odgovor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4566664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4566664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4566664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Relevantnost odgovora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polling, SSE, WebSocket, SPA, storage, PWA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Koliko je prikaz svež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panelu piše 24 °C. Očitavanje je staro deset minuta. Šta znamo?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Znamo sadašnju temperaturu, jer broj jeste na ekranu.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Znamo poslednje očitavanje, ne temperaturu u ovom trenutku.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Keš je uvek greška: ikonica i temperatura moraju isti rok.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Stariji odgovor sme da prepiše noviji, jer je i on sa servera.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08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Koliko je prikaz svež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Znamo sadašnju temperaturu, jer broj jeste na ekranu.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bez starosti ne znači sadašnje stanje. Znamo samo šta je poslednji put stiglo.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Znamo poslednje očitavanje, ne temperaturu u ovom trenutku.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Treba vreme merenja i jasan prikaz da je podatak zastareo ili nedostupan.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Keš je uvek greška: ikonica i temperatura moraju isti rok.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Svežina zavisi od posledice. Zastarela ikonica i zastarela temperatura nisu isti problem.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Stariji odgovor sme da prepiše noviji, jer je i on sa servera.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Kasniji, a stariji, odgovor može pokvariti noviji prikaz. Treba provera relevantnosti.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09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Ko sme da upravlja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KO JE KO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Autentifikacija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36666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2236666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2236666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Autorizacija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3332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3013332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3013332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Cookie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89998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789998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789998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Serverska sesija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66664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4566664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4566664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Uloga na svakom zahtevu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4333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534333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534333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Anonimna sesija nije identitet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ŠTA BROWSER BRANI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5847" y="146000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5847" y="146000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5847" y="146000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Origin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5847" y="2236666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5847" y="2236666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5847" y="2236666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Šema, host i 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847" y="3013332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5847" y="3013332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5847" y="3013332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Same-origin policy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3789998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3789998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3789998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CORS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4566664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4566664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4566664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Čitanje odgovora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5343330"/>
            <a:ext cx="5492927" cy="716666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5343330"/>
            <a:ext cx="520000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5343330"/>
            <a:ext cx="4752927" cy="716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Slanje zahteva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token, XSS, CSRF, HTTPS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sme da upravlja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Posmatrač nema dugme „Uključi”. Da li je time server zaštićen?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Jeste. Ko ne vidi dugme, ne može da pošalje komandu.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Nije. Server mora sam da proveri ulogu na svakom zahtevu.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JS sa drugog sajta ne pročita odgovor, server nije dostupan.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već dokazuje ko je korisnik, pa uloga nije potrebna.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09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sme da upravlja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Jeste. Ko ne vidi dugme, ne može da pošalje komandu.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Zahtev može da se pošalje mimo ekrana. Sakriveno dugme nije provera ovlašćenja.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Nije. Server mora sam da proveri ulogu na svakom zahtevu.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Ovlašćenje je odluka servera. Ekran može da sakrije komandu, ne može da je zabrani.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JS sa drugog sajta ne pročita odgovor, server nije dostupan.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može dobiti isti odgovor. Browser brani čitanje; to nije dokaz da server ćuti.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već dokazuje ko je korisnik, pa uloga nije potrebna.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ograničava čitanje u browseru. Nije autentifikacija i nije provera uloge.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0000"/>
            <a:ext cx="10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ČAS  10   ·   POJMOVI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0000"/>
            <a:ext cx="10800000" cy="4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7211C"/>
                </a:solidFill>
                <a:latin typeface="Cambria"/>
              </a:rPr>
              <a:t>Ceo sistem i šira slika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PUT I PROVERA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0000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920" y="1460000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920" y="1460000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Put komande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5714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920" y="2125714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920" y="2125714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Konfiguracija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91428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920" y="2791428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920" y="2791428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Adresa servera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57142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20" y="3457142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920" y="3457142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22856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920" y="4122856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920" y="4122856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Anotacija tipa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88570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920" y="4788570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2920" y="4788570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Statička provera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54284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920" y="5454284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2920" y="5454284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Runtime validacija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5847" y="1180000"/>
            <a:ext cx="5492927" cy="28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41A"/>
                </a:solidFill>
                <a:latin typeface="Calibri"/>
              </a:rPr>
              <a:t>TRI STANJA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5847" y="1460000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5847" y="1460000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5847" y="1460000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Željeno stanje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847" y="2125714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5847" y="2125714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5847" y="2125714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Serversko stanje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5847" y="2791428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5847" y="2791428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5847" y="2791428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Prikazano stanje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847" y="3457142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5847" y="3457142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5847" y="3457142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Izostanak odgovora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5847" y="4122856"/>
            <a:ext cx="5492927" cy="605714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5847" y="4122856"/>
            <a:ext cx="520000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841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5847" y="4122856"/>
            <a:ext cx="4752927" cy="6057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7211C"/>
                </a:solidFill>
                <a:latin typeface="Calibri"/>
              </a:rPr>
              <a:t>Ponavljanje po značenju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180000"/>
            <a:ext cx="110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Kasnije, kao mapa: proxy i CDN, cloud, SSR, log i metrika, CI, blockchain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Web programiranje   ·   Kontrolna soba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E56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806440" cy="5989320"/>
          </a:xfrm>
          <a:prstGeom prst="roundRect">
            <a:avLst>
              <a:gd name="adj" fmla="val 1575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sistem i šira slika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Ekran kaže „uključeno”. Odgovor na komandu nije stigao. Šta sme da se zaključi?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izbor. Zatim razlog za svaku opciju.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Tačan odgovor je na sledećem slajdu.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320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466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7607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 nije prošao, pa komandu treba odmah ponoviti.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85623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025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1226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 jeste prošao, jer ekran već pokazuje uključeno.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339242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537960" y="353872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648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znamo. Treba log i ponovno čitanje, pa odluka o ponavljanju.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492861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37960" y="5074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18464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kod prolazi TypeScript proveru ili ga je predložio AI, uloga je proverena.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 10   ·   RAZLOZI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sistem i šira slika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4358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2529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 nije prošao, pa komandu treba odmah ponoviti.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9105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Ćutanje ne dokazuje neuspeh upisa. Slepo ponavljanje može poništiti komandu koja jeste stigla.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" y="27249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237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0545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Upis jeste prošao, jer ekran već pokazuje uključeno.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može pokazati željeno stanje pre potvrde. Prikaz nije dokaz upisa.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10241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" y="40050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Tačno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78561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znamo. Treba log i ponovno čitanje, pa odluka o ponavljanju.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5137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Odvajamo željeno, serversko i prikazano. Ponavljanje zavisi od toga da li komanda postavlja stanje ili ga prebacuje.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92840" cy="1170432"/>
          </a:xfrm>
          <a:prstGeom prst="roundRect">
            <a:avLst>
              <a:gd name="adj" fmla="val 7813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52852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840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506577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kod prolazi TypeScript proveru ili ga je predložio AI, uloga je proverena.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31536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tip ni poreklo koda ne dokazuju da server proverava pravo operatera.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C9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SVIH DESET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Izostanak odgovora ne dokazuje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upis nije izvršen.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Željeno stanje, serversko stanje i prikaz ostaju tri različite stvari.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5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Ponavljanje komande zavisi od njenog značenja, ne od toga što ekran ćuti.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ostaje mapa, ne vežba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Kratak osvrt: koji problem rešava i kada postaje važan.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024128"/>
          </a:xfrm>
          <a:prstGeom prst="roundRect">
            <a:avLst>
              <a:gd name="adj" fmla="val 8929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764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Prikaz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09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Next.js, SSR i SPA. Komponenta se pominje kao razlog, ne kao zadatak.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1183112" cy="1024128"/>
          </a:xfrm>
          <a:prstGeom prst="roundRect">
            <a:avLst>
              <a:gd name="adj" fmla="val 8929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907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852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Express, GraphQL, Kubernetes, cloud. Jedan proces i jedan log dolaze pre toga.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11183112" cy="1024128"/>
          </a:xfrm>
          <a:prstGeom prst="roundRect">
            <a:avLst>
              <a:gd name="adj" fmla="val 8929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4050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Jezik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995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Napredni TypeScript, microtask kviz i closure sa tajmerom ostaju van obima.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4937760"/>
            <a:ext cx="11183112" cy="1024128"/>
          </a:xfrm>
          <a:prstGeom prst="roundRect">
            <a:avLst>
              <a:gd name="adj" fmla="val 8929"/>
            </a:avLst>
          </a:prstGeom>
          <a:solidFill>
            <a:srgbClr val="F4F7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51937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Poverenje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5138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sesije i blockchain. Cilj je razlikovati probleme, ne graditi login ili konsenzus.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programiranje   ·   Kontrolna soba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64739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E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Kontrolna soba — predavanja</dc:title>
  <dc:subject>Deset predavanja: pojmovi, pa problem i razlozi. Kod za teže pojmove je u beleškama.</dc:subject>
  <dc:creator>Web programiranje</dc:creator>
  <cp:lastModifiedBy>Web programiranje</cp:lastModifiedBy>
  <cp:revision>1</cp:revision>
  <dcterms:created xsi:type="dcterms:W3CDTF">2026-10-16T19:51:16Z</dcterms:created>
  <dcterms:modified xsi:type="dcterms:W3CDTF">2026-10-16T19:51:16Z</dcterms:modified>
</cp:coreProperties>
</file>